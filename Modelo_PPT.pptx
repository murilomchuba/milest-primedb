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9"/>
  </p:notesMasterIdLst>
  <p:sldIdLst>
    <p:sldId id="311" r:id="rId6"/>
    <p:sldId id="257" r:id="rId7"/>
    <p:sldId id="258" r:id="rId8"/>
    <p:sldId id="8242" r:id="rId9"/>
    <p:sldId id="8238" r:id="rId10"/>
    <p:sldId id="8213" r:id="rId11"/>
    <p:sldId id="8216" r:id="rId12"/>
    <p:sldId id="8244" r:id="rId13"/>
    <p:sldId id="8218" r:id="rId14"/>
    <p:sldId id="8232" r:id="rId15"/>
    <p:sldId id="8233" r:id="rId16"/>
    <p:sldId id="8239" r:id="rId17"/>
    <p:sldId id="8236" r:id="rId18"/>
    <p:sldId id="8237" r:id="rId19"/>
    <p:sldId id="8240" r:id="rId20"/>
    <p:sldId id="8241" r:id="rId21"/>
    <p:sldId id="8243" r:id="rId22"/>
    <p:sldId id="8245" r:id="rId23"/>
    <p:sldId id="8246" r:id="rId24"/>
    <p:sldId id="8247" r:id="rId25"/>
    <p:sldId id="8248" r:id="rId26"/>
    <p:sldId id="8249" r:id="rId27"/>
    <p:sldId id="312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F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0"/>
    <p:restoredTop sz="94521"/>
  </p:normalViewPr>
  <p:slideViewPr>
    <p:cSldViewPr snapToGrid="0">
      <p:cViewPr varScale="1">
        <p:scale>
          <a:sx n="120" d="100"/>
          <a:sy n="120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4_Status_Reports/Status_Report_Corporativo/Projet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ONCLICK/02_Planejamento/Cronograma/Onclick_Cronograma_V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LEADLOVERS/02_Planejamento/Cronograma/Cronograma_LeadLover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MADERO/02_Planejamento/Cronograma/MADERO%20Cronograma%20Datalake_0309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WL%20COMERCIO%20E%20IMPORTACAO%20LTDA/02_Planejamento/WSDistribuidora_CronogramaV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CADAN%20DISTRIBUI&#199;&#195;O/02_Planejamento/Cronograma/CadanDistribui&#231;&#227;o_CronogramaV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VERDEMAR/02_Planejamento/Cronograma/SuperVerdeMar_Cronogram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VERTTI/02_Planejamento/Cronograma/Vertti_CronogramaV2_200826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0_Projetos_PrimeDB/001_Em%20Andamento/Tenancy%20Gateway/02_Planejamento/Cronogram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GOB%20SOLU&#199;&#213;ES/02_Planejamento/Cronograma/GOB_CronogramaV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VISIONONE/02_Planejamento/Cronograma/VISIONONE_CronogramaV1(1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edbcombr.sharepoint.com/sites/projetos-primedb/Documentos%20Compartilhados/01_Projetos/01_Projetos_Clientes/001_Em%20Andamento/TRIUNFO%20LOGISTICA/02_Planejamento/Cronograma/Triunfo_CronogramaV1_210826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Total Horas (BAC)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Planilha1!$A$2:$A$18</c:f>
              <c:strCache>
                <c:ptCount val="17"/>
                <c:pt idx="0">
                  <c:v>Unimed Uberaba</c:v>
                </c:pt>
                <c:pt idx="1">
                  <c:v>Unimed Limeira</c:v>
                </c:pt>
                <c:pt idx="2">
                  <c:v>Unimed Parana</c:v>
                </c:pt>
                <c:pt idx="3">
                  <c:v>ePharma</c:v>
                </c:pt>
                <c:pt idx="4">
                  <c:v>Onclick</c:v>
                </c:pt>
                <c:pt idx="5">
                  <c:v>LeadLovers</c:v>
                </c:pt>
                <c:pt idx="6">
                  <c:v>Madero</c:v>
                </c:pt>
                <c:pt idx="7">
                  <c:v>Brazil Atacado</c:v>
                </c:pt>
                <c:pt idx="8">
                  <c:v>Cadan Distriuidora</c:v>
                </c:pt>
                <c:pt idx="9">
                  <c:v>SuperVerdeMar</c:v>
                </c:pt>
                <c:pt idx="10">
                  <c:v>Vertti</c:v>
                </c:pt>
                <c:pt idx="11">
                  <c:v>Ferragens Negrão</c:v>
                </c:pt>
                <c:pt idx="12">
                  <c:v>Unimed Guarapuava</c:v>
                </c:pt>
                <c:pt idx="13">
                  <c:v>Artelly</c:v>
                </c:pt>
                <c:pt idx="14">
                  <c:v>Triunfo Logistica</c:v>
                </c:pt>
                <c:pt idx="15">
                  <c:v>Gob Soluções</c:v>
                </c:pt>
                <c:pt idx="16">
                  <c:v>Vision One</c:v>
                </c:pt>
              </c:strCache>
            </c:strRef>
          </c:cat>
          <c:val>
            <c:numRef>
              <c:f>Planilha1!$B$2:$B$18</c:f>
              <c:numCache>
                <c:formatCode>General</c:formatCode>
                <c:ptCount val="17"/>
                <c:pt idx="0">
                  <c:v>1374</c:v>
                </c:pt>
                <c:pt idx="1">
                  <c:v>804</c:v>
                </c:pt>
                <c:pt idx="2">
                  <c:v>984</c:v>
                </c:pt>
                <c:pt idx="3">
                  <c:v>240</c:v>
                </c:pt>
                <c:pt idx="4">
                  <c:v>175</c:v>
                </c:pt>
                <c:pt idx="5">
                  <c:v>146</c:v>
                </c:pt>
                <c:pt idx="6">
                  <c:v>138</c:v>
                </c:pt>
                <c:pt idx="7">
                  <c:v>44</c:v>
                </c:pt>
                <c:pt idx="8">
                  <c:v>82</c:v>
                </c:pt>
                <c:pt idx="9">
                  <c:v>738</c:v>
                </c:pt>
                <c:pt idx="10">
                  <c:v>92</c:v>
                </c:pt>
                <c:pt idx="11">
                  <c:v>740</c:v>
                </c:pt>
                <c:pt idx="12">
                  <c:v>428</c:v>
                </c:pt>
                <c:pt idx="13">
                  <c:v>40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6-944B-941A-25B99473A8F1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Horas Consumidas (AC)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Planilha1!$A$2:$A$18</c:f>
              <c:strCache>
                <c:ptCount val="17"/>
                <c:pt idx="0">
                  <c:v>Unimed Uberaba</c:v>
                </c:pt>
                <c:pt idx="1">
                  <c:v>Unimed Limeira</c:v>
                </c:pt>
                <c:pt idx="2">
                  <c:v>Unimed Parana</c:v>
                </c:pt>
                <c:pt idx="3">
                  <c:v>ePharma</c:v>
                </c:pt>
                <c:pt idx="4">
                  <c:v>Onclick</c:v>
                </c:pt>
                <c:pt idx="5">
                  <c:v>LeadLovers</c:v>
                </c:pt>
                <c:pt idx="6">
                  <c:v>Madero</c:v>
                </c:pt>
                <c:pt idx="7">
                  <c:v>Brazil Atacado</c:v>
                </c:pt>
                <c:pt idx="8">
                  <c:v>Cadan Distriuidora</c:v>
                </c:pt>
                <c:pt idx="9">
                  <c:v>SuperVerdeMar</c:v>
                </c:pt>
                <c:pt idx="10">
                  <c:v>Vertti</c:v>
                </c:pt>
                <c:pt idx="11">
                  <c:v>Ferragens Negrão</c:v>
                </c:pt>
                <c:pt idx="12">
                  <c:v>Unimed Guarapuava</c:v>
                </c:pt>
                <c:pt idx="13">
                  <c:v>Artelly</c:v>
                </c:pt>
                <c:pt idx="14">
                  <c:v>Triunfo Logistica</c:v>
                </c:pt>
                <c:pt idx="15">
                  <c:v>Gob Soluções</c:v>
                </c:pt>
                <c:pt idx="16">
                  <c:v>Vision One</c:v>
                </c:pt>
              </c:strCache>
            </c:strRef>
          </c:cat>
          <c:val>
            <c:numRef>
              <c:f>Planilha1!$C$2:$C$18</c:f>
              <c:numCache>
                <c:formatCode>General</c:formatCode>
                <c:ptCount val="17"/>
                <c:pt idx="0">
                  <c:v>926</c:v>
                </c:pt>
                <c:pt idx="1">
                  <c:v>403</c:v>
                </c:pt>
                <c:pt idx="2">
                  <c:v>438</c:v>
                </c:pt>
                <c:pt idx="3">
                  <c:v>183</c:v>
                </c:pt>
                <c:pt idx="4">
                  <c:v>122</c:v>
                </c:pt>
                <c:pt idx="5">
                  <c:v>63</c:v>
                </c:pt>
                <c:pt idx="6">
                  <c:v>77</c:v>
                </c:pt>
                <c:pt idx="7">
                  <c:v>33</c:v>
                </c:pt>
                <c:pt idx="8">
                  <c:v>79</c:v>
                </c:pt>
                <c:pt idx="9">
                  <c:v>80</c:v>
                </c:pt>
                <c:pt idx="10">
                  <c:v>22</c:v>
                </c:pt>
                <c:pt idx="11">
                  <c:v>12</c:v>
                </c:pt>
                <c:pt idx="12">
                  <c:v>42</c:v>
                </c:pt>
                <c:pt idx="13">
                  <c:v>26</c:v>
                </c:pt>
                <c:pt idx="14">
                  <c:v>7</c:v>
                </c:pt>
                <c:pt idx="15">
                  <c:v>18</c:v>
                </c:pt>
                <c:pt idx="16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A6-944B-941A-25B99473A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3639423"/>
        <c:axId val="623634495"/>
      </c:barChart>
      <c:catAx>
        <c:axId val="623639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23634495"/>
        <c:crosses val="autoZero"/>
        <c:auto val="1"/>
        <c:lblAlgn val="ctr"/>
        <c:lblOffset val="100"/>
        <c:noMultiLvlLbl val="0"/>
      </c:catAx>
      <c:valAx>
        <c:axId val="62363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23639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4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/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03/09/2026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S'!$B$3</c:f>
              <c:strCache>
                <c:ptCount val="1"/>
                <c:pt idx="0">
                  <c:v>Planejado (duração)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'Curva S'!$A$4:$A$19</c:f>
              <c:numCache>
                <c:formatCode>dd/mm</c:formatCode>
                <c:ptCount val="16"/>
                <c:pt idx="0">
                  <c:v>46194</c:v>
                </c:pt>
                <c:pt idx="1">
                  <c:v>46195</c:v>
                </c:pt>
                <c:pt idx="2">
                  <c:v>46202</c:v>
                </c:pt>
                <c:pt idx="3">
                  <c:v>46209</c:v>
                </c:pt>
                <c:pt idx="4">
                  <c:v>46216</c:v>
                </c:pt>
                <c:pt idx="5">
                  <c:v>46223</c:v>
                </c:pt>
                <c:pt idx="6">
                  <c:v>46230</c:v>
                </c:pt>
                <c:pt idx="7">
                  <c:v>46237</c:v>
                </c:pt>
                <c:pt idx="8">
                  <c:v>46244</c:v>
                </c:pt>
                <c:pt idx="9">
                  <c:v>46251</c:v>
                </c:pt>
                <c:pt idx="10">
                  <c:v>46258</c:v>
                </c:pt>
                <c:pt idx="11">
                  <c:v>46265</c:v>
                </c:pt>
                <c:pt idx="12">
                  <c:v>46272</c:v>
                </c:pt>
                <c:pt idx="13">
                  <c:v>46279</c:v>
                </c:pt>
                <c:pt idx="14">
                  <c:v>46286</c:v>
                </c:pt>
                <c:pt idx="15">
                  <c:v>46293</c:v>
                </c:pt>
              </c:numCache>
            </c:numRef>
          </c:cat>
          <c:val>
            <c:numRef>
              <c:f>'Curva S'!$B$4:$B$19</c:f>
              <c:numCache>
                <c:formatCode>0.0%</c:formatCode>
                <c:ptCount val="16"/>
                <c:pt idx="0">
                  <c:v>0</c:v>
                </c:pt>
                <c:pt idx="1">
                  <c:v>5.1118210862619806E-2</c:v>
                </c:pt>
                <c:pt idx="2">
                  <c:v>0.12779552715654952</c:v>
                </c:pt>
                <c:pt idx="3">
                  <c:v>0.16932907348242812</c:v>
                </c:pt>
                <c:pt idx="4">
                  <c:v>0.16932907348242812</c:v>
                </c:pt>
                <c:pt idx="5">
                  <c:v>0.20766773162939298</c:v>
                </c:pt>
                <c:pt idx="6">
                  <c:v>0.33546325878594252</c:v>
                </c:pt>
                <c:pt idx="7">
                  <c:v>0.47923322683706071</c:v>
                </c:pt>
                <c:pt idx="8">
                  <c:v>0.75718849840255587</c:v>
                </c:pt>
                <c:pt idx="9">
                  <c:v>0.92971246006389774</c:v>
                </c:pt>
                <c:pt idx="10">
                  <c:v>0.96166134185303509</c:v>
                </c:pt>
                <c:pt idx="11">
                  <c:v>0.96805111821086265</c:v>
                </c:pt>
                <c:pt idx="12">
                  <c:v>0.9744408945686901</c:v>
                </c:pt>
                <c:pt idx="13">
                  <c:v>0.98722044728434499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45-7143-8F5F-45B5C700CE11}"/>
            </c:ext>
          </c:extLst>
        </c:ser>
        <c:ser>
          <c:idx val="1"/>
          <c:order val="1"/>
          <c:tx>
            <c:strRef>
              <c:f>'Curva S'!$C$3</c:f>
              <c:strCache>
                <c:ptCount val="1"/>
                <c:pt idx="0">
                  <c:v>Realizado (duração)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'Curva S'!$A$4:$A$19</c:f>
              <c:numCache>
                <c:formatCode>dd/mm</c:formatCode>
                <c:ptCount val="16"/>
                <c:pt idx="0">
                  <c:v>46194</c:v>
                </c:pt>
                <c:pt idx="1">
                  <c:v>46195</c:v>
                </c:pt>
                <c:pt idx="2">
                  <c:v>46202</c:v>
                </c:pt>
                <c:pt idx="3">
                  <c:v>46209</c:v>
                </c:pt>
                <c:pt idx="4">
                  <c:v>46216</c:v>
                </c:pt>
                <c:pt idx="5">
                  <c:v>46223</c:v>
                </c:pt>
                <c:pt idx="6">
                  <c:v>46230</c:v>
                </c:pt>
                <c:pt idx="7">
                  <c:v>46237</c:v>
                </c:pt>
                <c:pt idx="8">
                  <c:v>46244</c:v>
                </c:pt>
                <c:pt idx="9">
                  <c:v>46251</c:v>
                </c:pt>
                <c:pt idx="10">
                  <c:v>46258</c:v>
                </c:pt>
                <c:pt idx="11">
                  <c:v>46265</c:v>
                </c:pt>
                <c:pt idx="12">
                  <c:v>46272</c:v>
                </c:pt>
                <c:pt idx="13">
                  <c:v>46279</c:v>
                </c:pt>
                <c:pt idx="14">
                  <c:v>46286</c:v>
                </c:pt>
                <c:pt idx="15">
                  <c:v>46293</c:v>
                </c:pt>
              </c:numCache>
            </c:numRef>
          </c:cat>
          <c:val>
            <c:numRef>
              <c:f>'Curva S'!$C$4:$C$19</c:f>
              <c:numCache>
                <c:formatCode>0.0%</c:formatCode>
                <c:ptCount val="16"/>
                <c:pt idx="0">
                  <c:v>0</c:v>
                </c:pt>
                <c:pt idx="1">
                  <c:v>5.1118210862619806E-2</c:v>
                </c:pt>
                <c:pt idx="2">
                  <c:v>0.12779552715654952</c:v>
                </c:pt>
                <c:pt idx="3">
                  <c:v>0.16932907348242812</c:v>
                </c:pt>
                <c:pt idx="4">
                  <c:v>0.16932907348242812</c:v>
                </c:pt>
                <c:pt idx="5">
                  <c:v>0.20766773162939298</c:v>
                </c:pt>
                <c:pt idx="6">
                  <c:v>0.33546325878594252</c:v>
                </c:pt>
                <c:pt idx="7">
                  <c:v>0.47923322683706071</c:v>
                </c:pt>
                <c:pt idx="8">
                  <c:v>0.75718849840255587</c:v>
                </c:pt>
                <c:pt idx="9">
                  <c:v>0.92971246006389774</c:v>
                </c:pt>
                <c:pt idx="10">
                  <c:v>0.96166134185303509</c:v>
                </c:pt>
                <c:pt idx="11">
                  <c:v>0.96805111821086265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45-7143-8F5F-45B5C700C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0817160"/>
        <c:axId val="1240842760"/>
      </c:lineChart>
      <c:catAx>
        <c:axId val="1240817160"/>
        <c:scaling>
          <c:orientation val="minMax"/>
        </c:scaling>
        <c:delete val="0"/>
        <c:axPos val="b"/>
        <c:numFmt formatCode="dd/m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842760"/>
        <c:crosses val="autoZero"/>
        <c:auto val="0"/>
        <c:lblAlgn val="ctr"/>
        <c:lblOffset val="100"/>
        <c:tickLblSkip val="1"/>
        <c:tickMarkSkip val="1"/>
        <c:noMultiLvlLbl val="1"/>
      </c:catAx>
      <c:valAx>
        <c:axId val="124084276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0817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6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6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 sz="1600"/>
            </a:pP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6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04/09/2026)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S'!$B$3</c:f>
              <c:strCache>
                <c:ptCount val="1"/>
                <c:pt idx="0">
                  <c:v>Planejado (duração)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S'!$A$4:$A$11</c:f>
              <c:strCache>
                <c:ptCount val="8"/>
                <c:pt idx="0">
                  <c:v>Início</c:v>
                </c:pt>
                <c:pt idx="1">
                  <c:v>22/06/26</c:v>
                </c:pt>
                <c:pt idx="2">
                  <c:v>29/06/26</c:v>
                </c:pt>
                <c:pt idx="3">
                  <c:v>06/07/26</c:v>
                </c:pt>
                <c:pt idx="4">
                  <c:v>13/07/26</c:v>
                </c:pt>
                <c:pt idx="5">
                  <c:v>20/07/26</c:v>
                </c:pt>
                <c:pt idx="6">
                  <c:v>27/07/26</c:v>
                </c:pt>
                <c:pt idx="7">
                  <c:v>03/08/26</c:v>
                </c:pt>
              </c:strCache>
            </c:strRef>
          </c:cat>
          <c:val>
            <c:numRef>
              <c:f>'Curva S'!$B$4:$B$11</c:f>
              <c:numCache>
                <c:formatCode>0.0%</c:formatCode>
                <c:ptCount val="8"/>
                <c:pt idx="0">
                  <c:v>0</c:v>
                </c:pt>
                <c:pt idx="1">
                  <c:v>5.2845528455284568E-3</c:v>
                </c:pt>
                <c:pt idx="2">
                  <c:v>4.634146341463416E-2</c:v>
                </c:pt>
                <c:pt idx="3">
                  <c:v>0.23455284552845532</c:v>
                </c:pt>
                <c:pt idx="4">
                  <c:v>0.33902439024390246</c:v>
                </c:pt>
                <c:pt idx="5">
                  <c:v>0.33902439024390246</c:v>
                </c:pt>
                <c:pt idx="6">
                  <c:v>0.78617886178861796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2E-B44B-B3B0-E1B687CD4F6A}"/>
            </c:ext>
          </c:extLst>
        </c:ser>
        <c:ser>
          <c:idx val="1"/>
          <c:order val="1"/>
          <c:tx>
            <c:strRef>
              <c:f>'Curva S'!$C$3</c:f>
              <c:strCache>
                <c:ptCount val="1"/>
                <c:pt idx="0">
                  <c:v>Realizado (duração)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S'!$A$4:$A$11</c:f>
              <c:strCache>
                <c:ptCount val="8"/>
                <c:pt idx="0">
                  <c:v>Início</c:v>
                </c:pt>
                <c:pt idx="1">
                  <c:v>22/06/26</c:v>
                </c:pt>
                <c:pt idx="2">
                  <c:v>29/06/26</c:v>
                </c:pt>
                <c:pt idx="3">
                  <c:v>06/07/26</c:v>
                </c:pt>
                <c:pt idx="4">
                  <c:v>13/07/26</c:v>
                </c:pt>
                <c:pt idx="5">
                  <c:v>20/07/26</c:v>
                </c:pt>
                <c:pt idx="6">
                  <c:v>27/07/26</c:v>
                </c:pt>
                <c:pt idx="7">
                  <c:v>03/08/26</c:v>
                </c:pt>
              </c:strCache>
            </c:strRef>
          </c:cat>
          <c:val>
            <c:numRef>
              <c:f>'Curva S'!$C$4:$C$11</c:f>
              <c:numCache>
                <c:formatCode>0.0%</c:formatCode>
                <c:ptCount val="8"/>
                <c:pt idx="0">
                  <c:v>0</c:v>
                </c:pt>
                <c:pt idx="1">
                  <c:v>5.2845528455284568E-3</c:v>
                </c:pt>
                <c:pt idx="2">
                  <c:v>4.634146341463416E-2</c:v>
                </c:pt>
                <c:pt idx="3">
                  <c:v>0.23455284552845532</c:v>
                </c:pt>
                <c:pt idx="4">
                  <c:v>0.33902439024390246</c:v>
                </c:pt>
                <c:pt idx="5">
                  <c:v>0.33902439024390246</c:v>
                </c:pt>
                <c:pt idx="6">
                  <c:v>0.78617886178861796</c:v>
                </c:pt>
                <c:pt idx="7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2E-B44B-B3B0-E1B687CD4F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02747263"/>
        <c:axId val="1321299327"/>
      </c:lineChart>
      <c:catAx>
        <c:axId val="1302747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21299327"/>
        <c:crosses val="autoZero"/>
        <c:auto val="1"/>
        <c:lblAlgn val="ctr"/>
        <c:lblOffset val="100"/>
        <c:noMultiLvlLbl val="0"/>
      </c:catAx>
      <c:valAx>
        <c:axId val="1321299327"/>
        <c:scaling>
          <c:orientation val="minMax"/>
          <c:max val="1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1302747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Curva S - Previsto vs Real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S'!$C$4</c:f>
              <c:strCache>
                <c:ptCount val="1"/>
                <c:pt idx="0">
                  <c:v>% Previsto Acum.</c:v>
                </c:pt>
              </c:strCache>
            </c:strRef>
          </c:tx>
          <c:spPr>
            <a:ln w="28575" cap="rnd">
              <a:solidFill>
                <a:srgbClr val="1F4E7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'Curva S'!$AT$5:$AT$63</c:f>
              <c:strCache>
                <c:ptCount val="59"/>
                <c:pt idx="0">
                  <c:v>01/07</c:v>
                </c:pt>
                <c:pt idx="3">
                  <c:v>06/07</c:v>
                </c:pt>
                <c:pt idx="8">
                  <c:v>13/07</c:v>
                </c:pt>
                <c:pt idx="13">
                  <c:v>20/07</c:v>
                </c:pt>
                <c:pt idx="18">
                  <c:v>27/07</c:v>
                </c:pt>
                <c:pt idx="23">
                  <c:v>03/08</c:v>
                </c:pt>
                <c:pt idx="28">
                  <c:v>10/08</c:v>
                </c:pt>
                <c:pt idx="33">
                  <c:v>17/08</c:v>
                </c:pt>
                <c:pt idx="38">
                  <c:v>24/08</c:v>
                </c:pt>
                <c:pt idx="43">
                  <c:v>31/08</c:v>
                </c:pt>
                <c:pt idx="48">
                  <c:v>07/09</c:v>
                </c:pt>
                <c:pt idx="53">
                  <c:v>14/09</c:v>
                </c:pt>
                <c:pt idx="58">
                  <c:v>21/09</c:v>
                </c:pt>
              </c:strCache>
            </c:strRef>
          </c:cat>
          <c:val>
            <c:numRef>
              <c:f>'Curva S'!$C$5:$C$63</c:f>
              <c:numCache>
                <c:formatCode>0.0%</c:formatCode>
                <c:ptCount val="59"/>
                <c:pt idx="0">
                  <c:v>8.3333333333333332E-3</c:v>
                </c:pt>
                <c:pt idx="1">
                  <c:v>1.6666666666666666E-2</c:v>
                </c:pt>
                <c:pt idx="2">
                  <c:v>3.3333333333333333E-2</c:v>
                </c:pt>
                <c:pt idx="3">
                  <c:v>4.1666666666666671E-2</c:v>
                </c:pt>
                <c:pt idx="4">
                  <c:v>0.05</c:v>
                </c:pt>
                <c:pt idx="5">
                  <c:v>5.8333333333333334E-2</c:v>
                </c:pt>
                <c:pt idx="6">
                  <c:v>6.6666666666666666E-2</c:v>
                </c:pt>
                <c:pt idx="7">
                  <c:v>7.4999999999999997E-2</c:v>
                </c:pt>
                <c:pt idx="8">
                  <c:v>9.166666666666666E-2</c:v>
                </c:pt>
                <c:pt idx="9">
                  <c:v>0.10833333333333334</c:v>
                </c:pt>
                <c:pt idx="10">
                  <c:v>0.125</c:v>
                </c:pt>
                <c:pt idx="11">
                  <c:v>0.14166666666666666</c:v>
                </c:pt>
                <c:pt idx="12">
                  <c:v>0.15833333333333333</c:v>
                </c:pt>
                <c:pt idx="13">
                  <c:v>0.17499999999999999</c:v>
                </c:pt>
                <c:pt idx="14">
                  <c:v>0.19166666666666665</c:v>
                </c:pt>
                <c:pt idx="15">
                  <c:v>0.20833333333333331</c:v>
                </c:pt>
                <c:pt idx="16">
                  <c:v>0.22499999999999998</c:v>
                </c:pt>
                <c:pt idx="17">
                  <c:v>0.24166666666666667</c:v>
                </c:pt>
                <c:pt idx="18">
                  <c:v>0.2583333333333333</c:v>
                </c:pt>
                <c:pt idx="19">
                  <c:v>0.28333333333333333</c:v>
                </c:pt>
                <c:pt idx="20">
                  <c:v>0.30833333333333335</c:v>
                </c:pt>
                <c:pt idx="21">
                  <c:v>0.32499999999999996</c:v>
                </c:pt>
                <c:pt idx="22">
                  <c:v>0.34166666666666667</c:v>
                </c:pt>
                <c:pt idx="23">
                  <c:v>0.36666666666666664</c:v>
                </c:pt>
                <c:pt idx="24">
                  <c:v>0.39166666666666666</c:v>
                </c:pt>
                <c:pt idx="25">
                  <c:v>0.41666666666666663</c:v>
                </c:pt>
                <c:pt idx="26">
                  <c:v>0.44166666666666665</c:v>
                </c:pt>
                <c:pt idx="27">
                  <c:v>0.45833333333333331</c:v>
                </c:pt>
                <c:pt idx="28">
                  <c:v>0.47499999999999998</c:v>
                </c:pt>
                <c:pt idx="29">
                  <c:v>0.5</c:v>
                </c:pt>
                <c:pt idx="30">
                  <c:v>0.52500000000000002</c:v>
                </c:pt>
                <c:pt idx="31">
                  <c:v>0.54166666666666663</c:v>
                </c:pt>
                <c:pt idx="32">
                  <c:v>0.55833333333333335</c:v>
                </c:pt>
                <c:pt idx="33">
                  <c:v>0.57499999999999996</c:v>
                </c:pt>
                <c:pt idx="34">
                  <c:v>0.59166666666666667</c:v>
                </c:pt>
                <c:pt idx="35">
                  <c:v>0.60833333333333339</c:v>
                </c:pt>
                <c:pt idx="36">
                  <c:v>0.625</c:v>
                </c:pt>
                <c:pt idx="37">
                  <c:v>0.64166666666666661</c:v>
                </c:pt>
                <c:pt idx="38">
                  <c:v>0.65833333333333333</c:v>
                </c:pt>
                <c:pt idx="39">
                  <c:v>0.67500000000000004</c:v>
                </c:pt>
                <c:pt idx="40">
                  <c:v>0.69166666666666665</c:v>
                </c:pt>
                <c:pt idx="41">
                  <c:v>0.70833333333333326</c:v>
                </c:pt>
                <c:pt idx="42">
                  <c:v>0.72500000000000009</c:v>
                </c:pt>
                <c:pt idx="43">
                  <c:v>0.7416666666666667</c:v>
                </c:pt>
                <c:pt idx="44">
                  <c:v>0.7583333333333333</c:v>
                </c:pt>
                <c:pt idx="45">
                  <c:v>0.77499999999999991</c:v>
                </c:pt>
                <c:pt idx="46">
                  <c:v>0.79166666666666674</c:v>
                </c:pt>
                <c:pt idx="47">
                  <c:v>0.80833333333333335</c:v>
                </c:pt>
                <c:pt idx="48">
                  <c:v>0.82499999999999996</c:v>
                </c:pt>
                <c:pt idx="49">
                  <c:v>0.84166666666666656</c:v>
                </c:pt>
                <c:pt idx="50">
                  <c:v>0.85833333333333339</c:v>
                </c:pt>
                <c:pt idx="51">
                  <c:v>0.875</c:v>
                </c:pt>
                <c:pt idx="52">
                  <c:v>0.89166666666666661</c:v>
                </c:pt>
                <c:pt idx="53">
                  <c:v>0.90833333333333321</c:v>
                </c:pt>
                <c:pt idx="54">
                  <c:v>0.92500000000000004</c:v>
                </c:pt>
                <c:pt idx="55">
                  <c:v>0.94166666666666665</c:v>
                </c:pt>
                <c:pt idx="56">
                  <c:v>0.95833333333333326</c:v>
                </c:pt>
                <c:pt idx="57">
                  <c:v>0.98333333333333317</c:v>
                </c:pt>
                <c:pt idx="58">
                  <c:v>0.99999999999999989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3C-0145-8340-B3C100B638B1}"/>
            </c:ext>
          </c:extLst>
        </c:ser>
        <c:ser>
          <c:idx val="1"/>
          <c:order val="1"/>
          <c:tx>
            <c:strRef>
              <c:f>'Curva S'!$D$4</c:f>
              <c:strCache>
                <c:ptCount val="1"/>
                <c:pt idx="0">
                  <c:v>% Real Acum.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'Curva S'!$AT$5:$AT$63</c:f>
              <c:strCache>
                <c:ptCount val="59"/>
                <c:pt idx="0">
                  <c:v>01/07</c:v>
                </c:pt>
                <c:pt idx="3">
                  <c:v>06/07</c:v>
                </c:pt>
                <c:pt idx="8">
                  <c:v>13/07</c:v>
                </c:pt>
                <c:pt idx="13">
                  <c:v>20/07</c:v>
                </c:pt>
                <c:pt idx="18">
                  <c:v>27/07</c:v>
                </c:pt>
                <c:pt idx="23">
                  <c:v>03/08</c:v>
                </c:pt>
                <c:pt idx="28">
                  <c:v>10/08</c:v>
                </c:pt>
                <c:pt idx="33">
                  <c:v>17/08</c:v>
                </c:pt>
                <c:pt idx="38">
                  <c:v>24/08</c:v>
                </c:pt>
                <c:pt idx="43">
                  <c:v>31/08</c:v>
                </c:pt>
                <c:pt idx="48">
                  <c:v>07/09</c:v>
                </c:pt>
                <c:pt idx="53">
                  <c:v>14/09</c:v>
                </c:pt>
                <c:pt idx="58">
                  <c:v>21/09</c:v>
                </c:pt>
              </c:strCache>
            </c:strRef>
          </c:cat>
          <c:val>
            <c:numRef>
              <c:f>'Curva S'!$D$5:$D$63</c:f>
              <c:numCache>
                <c:formatCode>0.0%</c:formatCode>
                <c:ptCount val="59"/>
                <c:pt idx="0">
                  <c:v>8.3333333333333332E-3</c:v>
                </c:pt>
                <c:pt idx="1">
                  <c:v>1.6666666666666666E-2</c:v>
                </c:pt>
                <c:pt idx="2">
                  <c:v>3.3333333333333333E-2</c:v>
                </c:pt>
                <c:pt idx="3">
                  <c:v>4.1666666666666671E-2</c:v>
                </c:pt>
                <c:pt idx="4">
                  <c:v>0.05</c:v>
                </c:pt>
                <c:pt idx="5">
                  <c:v>5.8333333333333334E-2</c:v>
                </c:pt>
                <c:pt idx="6">
                  <c:v>6.6666666666666666E-2</c:v>
                </c:pt>
                <c:pt idx="7">
                  <c:v>7.4999999999999997E-2</c:v>
                </c:pt>
                <c:pt idx="8">
                  <c:v>9.166666666666666E-2</c:v>
                </c:pt>
                <c:pt idx="9">
                  <c:v>0.10833333333333334</c:v>
                </c:pt>
                <c:pt idx="10">
                  <c:v>0.125</c:v>
                </c:pt>
                <c:pt idx="11">
                  <c:v>0.14166666666666666</c:v>
                </c:pt>
                <c:pt idx="12">
                  <c:v>0.15833333333333333</c:v>
                </c:pt>
                <c:pt idx="13">
                  <c:v>0.17499999999999999</c:v>
                </c:pt>
                <c:pt idx="14">
                  <c:v>0.19166666666666665</c:v>
                </c:pt>
                <c:pt idx="15">
                  <c:v>0.20833333333333331</c:v>
                </c:pt>
                <c:pt idx="16">
                  <c:v>0.22499999999999998</c:v>
                </c:pt>
                <c:pt idx="17">
                  <c:v>0.24166666666666667</c:v>
                </c:pt>
                <c:pt idx="18">
                  <c:v>0.2583333333333333</c:v>
                </c:pt>
                <c:pt idx="19">
                  <c:v>0.28333333333333333</c:v>
                </c:pt>
                <c:pt idx="20">
                  <c:v>0.30833333333333335</c:v>
                </c:pt>
                <c:pt idx="21">
                  <c:v>0.32499999999999996</c:v>
                </c:pt>
                <c:pt idx="22">
                  <c:v>0.34166666666666667</c:v>
                </c:pt>
                <c:pt idx="23">
                  <c:v>0.36666666666666664</c:v>
                </c:pt>
                <c:pt idx="24">
                  <c:v>0.39166666666666666</c:v>
                </c:pt>
                <c:pt idx="25">
                  <c:v>0.41666666666666663</c:v>
                </c:pt>
                <c:pt idx="26">
                  <c:v>0.44166666666666665</c:v>
                </c:pt>
                <c:pt idx="27">
                  <c:v>0.45833333333333331</c:v>
                </c:pt>
                <c:pt idx="28">
                  <c:v>0.47499999999999998</c:v>
                </c:pt>
                <c:pt idx="29">
                  <c:v>0.5</c:v>
                </c:pt>
                <c:pt idx="30">
                  <c:v>0.52500000000000002</c:v>
                </c:pt>
                <c:pt idx="31">
                  <c:v>0.54166666666666663</c:v>
                </c:pt>
                <c:pt idx="32">
                  <c:v>0.55833333333333335</c:v>
                </c:pt>
                <c:pt idx="33">
                  <c:v>0.57499999999999996</c:v>
                </c:pt>
                <c:pt idx="34">
                  <c:v>0.59166666666666667</c:v>
                </c:pt>
                <c:pt idx="35">
                  <c:v>0.60833333333333339</c:v>
                </c:pt>
                <c:pt idx="36">
                  <c:v>0.625</c:v>
                </c:pt>
                <c:pt idx="37">
                  <c:v>0.64166666666666661</c:v>
                </c:pt>
                <c:pt idx="38">
                  <c:v>0.65833333333333333</c:v>
                </c:pt>
                <c:pt idx="39">
                  <c:v>0.67500000000000004</c:v>
                </c:pt>
                <c:pt idx="40">
                  <c:v>0.69166666666666665</c:v>
                </c:pt>
                <c:pt idx="41">
                  <c:v>0.70833333333333326</c:v>
                </c:pt>
                <c:pt idx="42">
                  <c:v>0.72500000000000009</c:v>
                </c:pt>
                <c:pt idx="43">
                  <c:v>0.7416666666666667</c:v>
                </c:pt>
                <c:pt idx="44">
                  <c:v>0.7583333333333333</c:v>
                </c:pt>
                <c:pt idx="45">
                  <c:v>0.77499999999999991</c:v>
                </c:pt>
                <c:pt idx="46">
                  <c:v>0.79166666666666674</c:v>
                </c:pt>
                <c:pt idx="47">
                  <c:v>0.80499999999999994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3C-0145-8340-B3C100B63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4216831"/>
        <c:axId val="255918976"/>
      </c:lineChart>
      <c:catAx>
        <c:axId val="254216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5918976"/>
        <c:crosses val="autoZero"/>
        <c:auto val="1"/>
        <c:lblAlgn val="ctr"/>
        <c:lblOffset val="100"/>
        <c:noMultiLvlLbl val="0"/>
      </c:catAx>
      <c:valAx>
        <c:axId val="255918976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4216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4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 sz="1400"/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04/09/2026)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S'!$B$3</c:f>
              <c:strCache>
                <c:ptCount val="1"/>
                <c:pt idx="0">
                  <c:v>Planejado (acum.)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S'!$A$4:$A$9</c:f>
              <c:strCache>
                <c:ptCount val="6"/>
                <c:pt idx="0">
                  <c:v>Início</c:v>
                </c:pt>
                <c:pt idx="1">
                  <c:v>Semana 1</c:v>
                </c:pt>
                <c:pt idx="2">
                  <c:v>Semana 2</c:v>
                </c:pt>
                <c:pt idx="3">
                  <c:v>Semana 3</c:v>
                </c:pt>
                <c:pt idx="4">
                  <c:v>Semana 19</c:v>
                </c:pt>
                <c:pt idx="5">
                  <c:v>Semana 20</c:v>
                </c:pt>
              </c:strCache>
            </c:strRef>
          </c:cat>
          <c:val>
            <c:numRef>
              <c:f>'Curva S'!$B$4:$B$9</c:f>
              <c:numCache>
                <c:formatCode>0%</c:formatCode>
                <c:ptCount val="6"/>
                <c:pt idx="0">
                  <c:v>0</c:v>
                </c:pt>
                <c:pt idx="1">
                  <c:v>0.1388888888888889</c:v>
                </c:pt>
                <c:pt idx="2">
                  <c:v>0.30555555555555558</c:v>
                </c:pt>
                <c:pt idx="3">
                  <c:v>0.58333333333333337</c:v>
                </c:pt>
                <c:pt idx="4">
                  <c:v>0.58333333333333337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1F-D347-94EE-A7FF46867079}"/>
            </c:ext>
          </c:extLst>
        </c:ser>
        <c:ser>
          <c:idx val="1"/>
          <c:order val="1"/>
          <c:tx>
            <c:strRef>
              <c:f>'Curva S'!$C$3</c:f>
              <c:strCache>
                <c:ptCount val="1"/>
                <c:pt idx="0">
                  <c:v>Realizado (acum.)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S'!$A$4:$A$9</c:f>
              <c:strCache>
                <c:ptCount val="6"/>
                <c:pt idx="0">
                  <c:v>Início</c:v>
                </c:pt>
                <c:pt idx="1">
                  <c:v>Semana 1</c:v>
                </c:pt>
                <c:pt idx="2">
                  <c:v>Semana 2</c:v>
                </c:pt>
                <c:pt idx="3">
                  <c:v>Semana 3</c:v>
                </c:pt>
                <c:pt idx="4">
                  <c:v>Semana 19</c:v>
                </c:pt>
                <c:pt idx="5">
                  <c:v>Semana 20</c:v>
                </c:pt>
              </c:strCache>
            </c:strRef>
          </c:cat>
          <c:val>
            <c:numRef>
              <c:f>'Curva S'!$C$4:$C$9</c:f>
              <c:numCache>
                <c:formatCode>0%</c:formatCode>
                <c:ptCount val="6"/>
                <c:pt idx="0">
                  <c:v>0</c:v>
                </c:pt>
                <c:pt idx="1">
                  <c:v>0.1388888888888889</c:v>
                </c:pt>
                <c:pt idx="2">
                  <c:v>0.30555555555555558</c:v>
                </c:pt>
                <c:pt idx="3">
                  <c:v>0.58333333333333337</c:v>
                </c:pt>
                <c:pt idx="4">
                  <c:v>#N/A</c:v>
                </c:pt>
                <c:pt idx="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1F-D347-94EE-A7FF4686707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751424"/>
        <c:axId val="104756352"/>
      </c:lineChart>
      <c:catAx>
        <c:axId val="10475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4756352"/>
        <c:crosses val="autoZero"/>
        <c:auto val="1"/>
        <c:lblAlgn val="ctr"/>
        <c:lblOffset val="100"/>
        <c:noMultiLvlLbl val="0"/>
      </c:catAx>
      <c:valAx>
        <c:axId val="10475635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0475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4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 sz="1400"/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04/09/2026)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S'!$B$3</c:f>
              <c:strCache>
                <c:ptCount val="1"/>
                <c:pt idx="0">
                  <c:v>Planejado (acum.)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S'!$A$4:$A$9</c:f>
              <c:strCache>
                <c:ptCount val="6"/>
                <c:pt idx="0">
                  <c:v>Início</c:v>
                </c:pt>
                <c:pt idx="1">
                  <c:v>06/07</c:v>
                </c:pt>
                <c:pt idx="2">
                  <c:v>13/07</c:v>
                </c:pt>
                <c:pt idx="3">
                  <c:v>20/07</c:v>
                </c:pt>
                <c:pt idx="4">
                  <c:v>27/07</c:v>
                </c:pt>
                <c:pt idx="5">
                  <c:v>03/08</c:v>
                </c:pt>
              </c:strCache>
            </c:strRef>
          </c:cat>
          <c:val>
            <c:numRef>
              <c:f>'Curva S'!$B$4:$B$9</c:f>
              <c:numCache>
                <c:formatCode>0.0%</c:formatCode>
                <c:ptCount val="6"/>
                <c:pt idx="0">
                  <c:v>0</c:v>
                </c:pt>
                <c:pt idx="1">
                  <c:v>4.1666666666666664E-2</c:v>
                </c:pt>
                <c:pt idx="2">
                  <c:v>8.3333333333333329E-2</c:v>
                </c:pt>
                <c:pt idx="3">
                  <c:v>8.3333333333333329E-2</c:v>
                </c:pt>
                <c:pt idx="4">
                  <c:v>0.70833333333333337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66-D145-AF46-DD7DB80A65F3}"/>
            </c:ext>
          </c:extLst>
        </c:ser>
        <c:ser>
          <c:idx val="1"/>
          <c:order val="1"/>
          <c:tx>
            <c:strRef>
              <c:f>'Curva S'!$C$3</c:f>
              <c:strCache>
                <c:ptCount val="1"/>
                <c:pt idx="0">
                  <c:v>Realizado (acum.)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S'!$A$4:$A$9</c:f>
              <c:strCache>
                <c:ptCount val="6"/>
                <c:pt idx="0">
                  <c:v>Início</c:v>
                </c:pt>
                <c:pt idx="1">
                  <c:v>06/07</c:v>
                </c:pt>
                <c:pt idx="2">
                  <c:v>13/07</c:v>
                </c:pt>
                <c:pt idx="3">
                  <c:v>20/07</c:v>
                </c:pt>
                <c:pt idx="4">
                  <c:v>27/07</c:v>
                </c:pt>
                <c:pt idx="5">
                  <c:v>03/08</c:v>
                </c:pt>
              </c:strCache>
            </c:strRef>
          </c:cat>
          <c:val>
            <c:numRef>
              <c:f>'Curva S'!$C$4:$C$9</c:f>
              <c:numCache>
                <c:formatCode>0.0%</c:formatCode>
                <c:ptCount val="6"/>
                <c:pt idx="0">
                  <c:v>0</c:v>
                </c:pt>
                <c:pt idx="1">
                  <c:v>4.1666666666666664E-2</c:v>
                </c:pt>
                <c:pt idx="2">
                  <c:v>8.3333333333333329E-2</c:v>
                </c:pt>
                <c:pt idx="3">
                  <c:v>8.3333333333333329E-2</c:v>
                </c:pt>
                <c:pt idx="4">
                  <c:v>0.70833333333333337</c:v>
                </c:pt>
                <c:pt idx="5">
                  <c:v>0.95833333333333337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66-D145-AF46-DD7DB80A65F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21373631"/>
        <c:axId val="1321375423"/>
      </c:lineChart>
      <c:catAx>
        <c:axId val="1321373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21375423"/>
        <c:crosses val="autoZero"/>
        <c:auto val="1"/>
        <c:lblAlgn val="ctr"/>
        <c:lblOffset val="100"/>
        <c:noMultiLvlLbl val="0"/>
      </c:catAx>
      <c:valAx>
        <c:axId val="1321375423"/>
        <c:scaling>
          <c:orientation val="minMax"/>
          <c:max val="1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1321373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4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/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04/09/2026)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S'!$C$4</c:f>
              <c:strCache>
                <c:ptCount val="1"/>
                <c:pt idx="0">
                  <c:v>% Previsto Acum.</c:v>
                </c:pt>
              </c:strCache>
            </c:strRef>
          </c:tx>
          <c:spPr>
            <a:ln w="28575" cap="rnd">
              <a:solidFill>
                <a:srgbClr val="1F4E7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'Curva S'!$F$5:$F$85</c:f>
              <c:strCache>
                <c:ptCount val="78"/>
                <c:pt idx="2">
                  <c:v>20/07</c:v>
                </c:pt>
                <c:pt idx="7">
                  <c:v>27/07</c:v>
                </c:pt>
                <c:pt idx="12">
                  <c:v>03/08</c:v>
                </c:pt>
                <c:pt idx="17">
                  <c:v>10/08</c:v>
                </c:pt>
                <c:pt idx="22">
                  <c:v>17/08</c:v>
                </c:pt>
                <c:pt idx="27">
                  <c:v>24/08</c:v>
                </c:pt>
                <c:pt idx="32">
                  <c:v>31/08</c:v>
                </c:pt>
                <c:pt idx="37">
                  <c:v>07/09</c:v>
                </c:pt>
                <c:pt idx="42">
                  <c:v>14/09</c:v>
                </c:pt>
                <c:pt idx="47">
                  <c:v>21/09</c:v>
                </c:pt>
                <c:pt idx="52">
                  <c:v>28/09</c:v>
                </c:pt>
                <c:pt idx="57">
                  <c:v>05/10</c:v>
                </c:pt>
                <c:pt idx="62">
                  <c:v>12/10</c:v>
                </c:pt>
                <c:pt idx="67">
                  <c:v>19/10</c:v>
                </c:pt>
                <c:pt idx="72">
                  <c:v>26/10</c:v>
                </c:pt>
                <c:pt idx="77">
                  <c:v>02/11</c:v>
                </c:pt>
              </c:strCache>
            </c:strRef>
          </c:cat>
          <c:val>
            <c:numRef>
              <c:f>'Curva S'!$C$5:$C$85</c:f>
              <c:numCache>
                <c:formatCode>0.0%</c:formatCode>
                <c:ptCount val="81"/>
                <c:pt idx="0">
                  <c:v>4.5454545454545452E-3</c:v>
                </c:pt>
                <c:pt idx="1">
                  <c:v>2.7272727272727275E-2</c:v>
                </c:pt>
                <c:pt idx="2">
                  <c:v>0.05</c:v>
                </c:pt>
                <c:pt idx="3">
                  <c:v>7.7272727272727271E-2</c:v>
                </c:pt>
                <c:pt idx="4">
                  <c:v>0.10454545454545455</c:v>
                </c:pt>
                <c:pt idx="5">
                  <c:v>0.13181818181818181</c:v>
                </c:pt>
                <c:pt idx="6">
                  <c:v>0.15909090909090909</c:v>
                </c:pt>
                <c:pt idx="7">
                  <c:v>0.18636363636363634</c:v>
                </c:pt>
                <c:pt idx="8">
                  <c:v>0.21363636363636362</c:v>
                </c:pt>
                <c:pt idx="9">
                  <c:v>0.24090909090909088</c:v>
                </c:pt>
                <c:pt idx="10">
                  <c:v>0.27272727272727271</c:v>
                </c:pt>
                <c:pt idx="11">
                  <c:v>0.30454545454545451</c:v>
                </c:pt>
                <c:pt idx="12">
                  <c:v>0.33636363636363636</c:v>
                </c:pt>
                <c:pt idx="13">
                  <c:v>0.36818181818181817</c:v>
                </c:pt>
                <c:pt idx="14">
                  <c:v>0.39545454545454539</c:v>
                </c:pt>
                <c:pt idx="15">
                  <c:v>0.42727272727272725</c:v>
                </c:pt>
                <c:pt idx="16">
                  <c:v>0.44999999999999996</c:v>
                </c:pt>
                <c:pt idx="17">
                  <c:v>0.4681818181818182</c:v>
                </c:pt>
                <c:pt idx="18">
                  <c:v>0.48636363636363633</c:v>
                </c:pt>
                <c:pt idx="19">
                  <c:v>0.50454545454545463</c:v>
                </c:pt>
                <c:pt idx="20">
                  <c:v>0.51818181818181819</c:v>
                </c:pt>
                <c:pt idx="21">
                  <c:v>0.53181818181818186</c:v>
                </c:pt>
                <c:pt idx="22">
                  <c:v>0.54545454545454541</c:v>
                </c:pt>
                <c:pt idx="23">
                  <c:v>0.55909090909090908</c:v>
                </c:pt>
                <c:pt idx="24">
                  <c:v>0.57272727272727275</c:v>
                </c:pt>
                <c:pt idx="25">
                  <c:v>0.58636363636363642</c:v>
                </c:pt>
                <c:pt idx="26">
                  <c:v>0.59999999999999987</c:v>
                </c:pt>
                <c:pt idx="27">
                  <c:v>0.61363636363636354</c:v>
                </c:pt>
                <c:pt idx="28">
                  <c:v>0.6272727272727272</c:v>
                </c:pt>
                <c:pt idx="29">
                  <c:v>0.64090909090909087</c:v>
                </c:pt>
                <c:pt idx="30">
                  <c:v>0.65454545454545454</c:v>
                </c:pt>
                <c:pt idx="31">
                  <c:v>0.66818181818181799</c:v>
                </c:pt>
                <c:pt idx="32">
                  <c:v>0.68181818181818166</c:v>
                </c:pt>
                <c:pt idx="33">
                  <c:v>0.69545454545454533</c:v>
                </c:pt>
                <c:pt idx="34">
                  <c:v>0.70454545454545459</c:v>
                </c:pt>
                <c:pt idx="35">
                  <c:v>0.71363636363636362</c:v>
                </c:pt>
                <c:pt idx="36">
                  <c:v>0.71818181818181803</c:v>
                </c:pt>
                <c:pt idx="37">
                  <c:v>0.72272727272727266</c:v>
                </c:pt>
                <c:pt idx="38">
                  <c:v>0.72727272727272729</c:v>
                </c:pt>
                <c:pt idx="39">
                  <c:v>0.7318181818181817</c:v>
                </c:pt>
                <c:pt idx="40">
                  <c:v>0.73636363636363633</c:v>
                </c:pt>
                <c:pt idx="41">
                  <c:v>0.74090909090909074</c:v>
                </c:pt>
                <c:pt idx="42">
                  <c:v>0.74545454545454537</c:v>
                </c:pt>
                <c:pt idx="43">
                  <c:v>0.75</c:v>
                </c:pt>
                <c:pt idx="44">
                  <c:v>0.75454545454545441</c:v>
                </c:pt>
                <c:pt idx="45">
                  <c:v>0.75909090909090904</c:v>
                </c:pt>
                <c:pt idx="46">
                  <c:v>0.76363636363636367</c:v>
                </c:pt>
                <c:pt idx="47">
                  <c:v>0.76818181818181808</c:v>
                </c:pt>
                <c:pt idx="48">
                  <c:v>0.77272727272727271</c:v>
                </c:pt>
                <c:pt idx="49">
                  <c:v>0.78181818181818186</c:v>
                </c:pt>
                <c:pt idx="50">
                  <c:v>0.79090909090909078</c:v>
                </c:pt>
                <c:pt idx="51">
                  <c:v>0.8</c:v>
                </c:pt>
                <c:pt idx="52">
                  <c:v>0.80909090909090919</c:v>
                </c:pt>
                <c:pt idx="53">
                  <c:v>0.81818181818181812</c:v>
                </c:pt>
                <c:pt idx="54">
                  <c:v>0.82727272727272716</c:v>
                </c:pt>
                <c:pt idx="55">
                  <c:v>0.8363636363636362</c:v>
                </c:pt>
                <c:pt idx="56">
                  <c:v>0.84545454545454546</c:v>
                </c:pt>
                <c:pt idx="57">
                  <c:v>0.8545454545454545</c:v>
                </c:pt>
                <c:pt idx="58">
                  <c:v>0.86363636363636354</c:v>
                </c:pt>
                <c:pt idx="59">
                  <c:v>0.87272727272727257</c:v>
                </c:pt>
                <c:pt idx="60">
                  <c:v>0.88181818181818172</c:v>
                </c:pt>
                <c:pt idx="61">
                  <c:v>0.89545454545454528</c:v>
                </c:pt>
                <c:pt idx="62">
                  <c:v>0.90909090909090884</c:v>
                </c:pt>
                <c:pt idx="63">
                  <c:v>0.92272727272727262</c:v>
                </c:pt>
                <c:pt idx="64">
                  <c:v>0.93181818181818177</c:v>
                </c:pt>
                <c:pt idx="65">
                  <c:v>0.94090909090909081</c:v>
                </c:pt>
                <c:pt idx="66">
                  <c:v>0.94999999999999984</c:v>
                </c:pt>
                <c:pt idx="67">
                  <c:v>0.95909090909090888</c:v>
                </c:pt>
                <c:pt idx="68">
                  <c:v>0.96818181818181803</c:v>
                </c:pt>
                <c:pt idx="69">
                  <c:v>0.97272727272727255</c:v>
                </c:pt>
                <c:pt idx="70">
                  <c:v>0.97727272727272707</c:v>
                </c:pt>
                <c:pt idx="71">
                  <c:v>0.98181818181818159</c:v>
                </c:pt>
                <c:pt idx="72">
                  <c:v>0.98636363636363622</c:v>
                </c:pt>
                <c:pt idx="73">
                  <c:v>0.99090909090909074</c:v>
                </c:pt>
                <c:pt idx="74">
                  <c:v>0.99545454545454526</c:v>
                </c:pt>
                <c:pt idx="75">
                  <c:v>0.99545454545454526</c:v>
                </c:pt>
                <c:pt idx="76">
                  <c:v>0.99545454545454526</c:v>
                </c:pt>
                <c:pt idx="77">
                  <c:v>0.99545454545454526</c:v>
                </c:pt>
                <c:pt idx="78">
                  <c:v>0.99545454545454526</c:v>
                </c:pt>
                <c:pt idx="79">
                  <c:v>0.99545454545454526</c:v>
                </c:pt>
                <c:pt idx="80">
                  <c:v>0.99999999999999978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B4-2C4A-92D5-962F8A31C01C}"/>
            </c:ext>
          </c:extLst>
        </c:ser>
        <c:ser>
          <c:idx val="1"/>
          <c:order val="1"/>
          <c:tx>
            <c:strRef>
              <c:f>'Curva S'!$D$4</c:f>
              <c:strCache>
                <c:ptCount val="1"/>
                <c:pt idx="0">
                  <c:v>% Real Acum.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'Curva S'!$F$5:$F$85</c:f>
              <c:strCache>
                <c:ptCount val="78"/>
                <c:pt idx="2">
                  <c:v>20/07</c:v>
                </c:pt>
                <c:pt idx="7">
                  <c:v>27/07</c:v>
                </c:pt>
                <c:pt idx="12">
                  <c:v>03/08</c:v>
                </c:pt>
                <c:pt idx="17">
                  <c:v>10/08</c:v>
                </c:pt>
                <c:pt idx="22">
                  <c:v>17/08</c:v>
                </c:pt>
                <c:pt idx="27">
                  <c:v>24/08</c:v>
                </c:pt>
                <c:pt idx="32">
                  <c:v>31/08</c:v>
                </c:pt>
                <c:pt idx="37">
                  <c:v>07/09</c:v>
                </c:pt>
                <c:pt idx="42">
                  <c:v>14/09</c:v>
                </c:pt>
                <c:pt idx="47">
                  <c:v>21/09</c:v>
                </c:pt>
                <c:pt idx="52">
                  <c:v>28/09</c:v>
                </c:pt>
                <c:pt idx="57">
                  <c:v>05/10</c:v>
                </c:pt>
                <c:pt idx="62">
                  <c:v>12/10</c:v>
                </c:pt>
                <c:pt idx="67">
                  <c:v>19/10</c:v>
                </c:pt>
                <c:pt idx="72">
                  <c:v>26/10</c:v>
                </c:pt>
                <c:pt idx="77">
                  <c:v>02/11</c:v>
                </c:pt>
              </c:strCache>
            </c:strRef>
          </c:cat>
          <c:val>
            <c:numRef>
              <c:f>'Curva S'!$D$5:$D$85</c:f>
              <c:numCache>
                <c:formatCode>0.0%</c:formatCode>
                <c:ptCount val="81"/>
                <c:pt idx="0">
                  <c:v>4.5454545454545452E-3</c:v>
                </c:pt>
                <c:pt idx="1">
                  <c:v>2.7272727272727275E-2</c:v>
                </c:pt>
                <c:pt idx="2">
                  <c:v>0.05</c:v>
                </c:pt>
                <c:pt idx="3">
                  <c:v>7.7272727272727271E-2</c:v>
                </c:pt>
                <c:pt idx="4">
                  <c:v>0.10454545454545455</c:v>
                </c:pt>
                <c:pt idx="5">
                  <c:v>0.13181818181818181</c:v>
                </c:pt>
                <c:pt idx="6">
                  <c:v>0.15909090909090909</c:v>
                </c:pt>
                <c:pt idx="7">
                  <c:v>0.18636363636363634</c:v>
                </c:pt>
                <c:pt idx="8">
                  <c:v>0.21363636363636362</c:v>
                </c:pt>
                <c:pt idx="9">
                  <c:v>0.24090909090909088</c:v>
                </c:pt>
                <c:pt idx="10">
                  <c:v>0.27159090909090905</c:v>
                </c:pt>
                <c:pt idx="11">
                  <c:v>0.29886363636363633</c:v>
                </c:pt>
                <c:pt idx="12">
                  <c:v>0.32613636363636361</c:v>
                </c:pt>
                <c:pt idx="13">
                  <c:v>0.35340909090909089</c:v>
                </c:pt>
                <c:pt idx="14">
                  <c:v>0.38068181818181812</c:v>
                </c:pt>
                <c:pt idx="15">
                  <c:v>0.41249999999999998</c:v>
                </c:pt>
                <c:pt idx="16">
                  <c:v>0.43522727272727268</c:v>
                </c:pt>
                <c:pt idx="17">
                  <c:v>0.45340909090909087</c:v>
                </c:pt>
                <c:pt idx="18">
                  <c:v>0.47159090909090906</c:v>
                </c:pt>
                <c:pt idx="19">
                  <c:v>0.4897727272727273</c:v>
                </c:pt>
                <c:pt idx="20">
                  <c:v>0.50340909090909092</c:v>
                </c:pt>
                <c:pt idx="21">
                  <c:v>0.51704545454545459</c:v>
                </c:pt>
                <c:pt idx="22">
                  <c:v>0.53068181818181814</c:v>
                </c:pt>
                <c:pt idx="23">
                  <c:v>0.54431818181818181</c:v>
                </c:pt>
                <c:pt idx="24">
                  <c:v>0.55795454545454537</c:v>
                </c:pt>
                <c:pt idx="25">
                  <c:v>0.57045454545454533</c:v>
                </c:pt>
                <c:pt idx="26">
                  <c:v>0.57954545454545459</c:v>
                </c:pt>
                <c:pt idx="27">
                  <c:v>0.58409090909090899</c:v>
                </c:pt>
                <c:pt idx="28">
                  <c:v>0.58863636363636362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B4-2C4A-92D5-962F8A31C0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592959"/>
        <c:axId val="2125572608"/>
      </c:lineChart>
      <c:catAx>
        <c:axId val="496592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Data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5572608"/>
        <c:crosses val="autoZero"/>
        <c:auto val="0"/>
        <c:lblAlgn val="ctr"/>
        <c:lblOffset val="100"/>
        <c:noMultiLvlLbl val="0"/>
      </c:catAx>
      <c:valAx>
        <c:axId val="2125572608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% Acumulado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9659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4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/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04/09/2026)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S'!$C$26</c:f>
              <c:strCache>
                <c:ptCount val="1"/>
                <c:pt idx="0">
                  <c:v>% Planejado (acum.)</c:v>
                </c:pt>
              </c:strCache>
            </c:strRef>
          </c:tx>
          <c:spPr>
            <a:ln w="28575" cap="rnd">
              <a:solidFill>
                <a:srgbClr val="1F4E7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'Curva S'!$E$27:$E$38</c:f>
              <c:strCache>
                <c:ptCount val="12"/>
                <c:pt idx="0">
                  <c:v>20/08</c:v>
                </c:pt>
                <c:pt idx="2">
                  <c:v>24/08</c:v>
                </c:pt>
                <c:pt idx="7">
                  <c:v>31/08</c:v>
                </c:pt>
                <c:pt idx="11">
                  <c:v>04/09</c:v>
                </c:pt>
              </c:strCache>
            </c:strRef>
          </c:cat>
          <c:val>
            <c:numRef>
              <c:f>'Curva S'!$C$27:$C$38</c:f>
              <c:numCache>
                <c:formatCode>0.0%</c:formatCode>
                <c:ptCount val="12"/>
                <c:pt idx="0">
                  <c:v>0.18181818181818182</c:v>
                </c:pt>
                <c:pt idx="1">
                  <c:v>0.3636363636363637</c:v>
                </c:pt>
                <c:pt idx="2">
                  <c:v>0.59090909090909094</c:v>
                </c:pt>
                <c:pt idx="3">
                  <c:v>0.63636363636363635</c:v>
                </c:pt>
                <c:pt idx="4">
                  <c:v>0.68181818181818188</c:v>
                </c:pt>
                <c:pt idx="5">
                  <c:v>0.72727272727272729</c:v>
                </c:pt>
                <c:pt idx="6">
                  <c:v>0.75</c:v>
                </c:pt>
                <c:pt idx="7">
                  <c:v>0.81818181818181823</c:v>
                </c:pt>
                <c:pt idx="8">
                  <c:v>0.86363636363636365</c:v>
                </c:pt>
                <c:pt idx="9">
                  <c:v>0.90909090909090917</c:v>
                </c:pt>
                <c:pt idx="10">
                  <c:v>0.95454545454545459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71-AA47-A46C-7A949AE1F3C4}"/>
            </c:ext>
          </c:extLst>
        </c:ser>
        <c:ser>
          <c:idx val="1"/>
          <c:order val="1"/>
          <c:tx>
            <c:strRef>
              <c:f>'Curva S'!$D$26</c:f>
              <c:strCache>
                <c:ptCount val="1"/>
                <c:pt idx="0">
                  <c:v>% Realizado (acum.)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'Curva S'!$E$27:$E$38</c:f>
              <c:strCache>
                <c:ptCount val="12"/>
                <c:pt idx="0">
                  <c:v>20/08</c:v>
                </c:pt>
                <c:pt idx="2">
                  <c:v>24/08</c:v>
                </c:pt>
                <c:pt idx="7">
                  <c:v>31/08</c:v>
                </c:pt>
                <c:pt idx="11">
                  <c:v>04/09</c:v>
                </c:pt>
              </c:strCache>
            </c:strRef>
          </c:cat>
          <c:val>
            <c:numRef>
              <c:f>'Curva S'!$D$27:$D$38</c:f>
              <c:numCache>
                <c:formatCode>0.0%</c:formatCode>
                <c:ptCount val="12"/>
                <c:pt idx="0">
                  <c:v>0.18181818181818182</c:v>
                </c:pt>
                <c:pt idx="1">
                  <c:v>0.3636363636363637</c:v>
                </c:pt>
                <c:pt idx="2">
                  <c:v>0.59090909090909094</c:v>
                </c:pt>
                <c:pt idx="3">
                  <c:v>0.63636363636363635</c:v>
                </c:pt>
                <c:pt idx="4">
                  <c:v>0.68181818181818188</c:v>
                </c:pt>
                <c:pt idx="5">
                  <c:v>0.72727272727272729</c:v>
                </c:pt>
                <c:pt idx="6">
                  <c:v>0.75</c:v>
                </c:pt>
                <c:pt idx="7">
                  <c:v>0.81818181818181823</c:v>
                </c:pt>
                <c:pt idx="8">
                  <c:v>0.86363636363636365</c:v>
                </c:pt>
                <c:pt idx="9">
                  <c:v>0.90909090909090917</c:v>
                </c:pt>
                <c:pt idx="10">
                  <c:v>0.95454545454545459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71-AA47-A46C-7A949AE1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11573632"/>
        <c:axId val="1719028800"/>
      </c:lineChart>
      <c:catAx>
        <c:axId val="1711573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Dia útil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19028800"/>
        <c:crosses val="autoZero"/>
        <c:auto val="0"/>
        <c:lblAlgn val="ctr"/>
        <c:lblOffset val="100"/>
        <c:noMultiLvlLbl val="0"/>
      </c:catAx>
      <c:valAx>
        <c:axId val="171902880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% Avanço acumulado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1157363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6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6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 sz="1600"/>
            </a:pP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6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6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31/07/2026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S'!$B$3</c:f>
              <c:strCache>
                <c:ptCount val="1"/>
                <c:pt idx="0">
                  <c:v>Planejado (acum.)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S'!$A$4:$A$13</c:f>
              <c:strCache>
                <c:ptCount val="10"/>
                <c:pt idx="0">
                  <c:v>Início</c:v>
                </c:pt>
                <c:pt idx="1">
                  <c:v>03/08</c:v>
                </c:pt>
                <c:pt idx="2">
                  <c:v>10/08</c:v>
                </c:pt>
                <c:pt idx="3">
                  <c:v>17/08</c:v>
                </c:pt>
                <c:pt idx="4">
                  <c:v>24/08</c:v>
                </c:pt>
                <c:pt idx="5">
                  <c:v>31/08</c:v>
                </c:pt>
                <c:pt idx="6">
                  <c:v>07/09</c:v>
                </c:pt>
                <c:pt idx="7">
                  <c:v>14/09</c:v>
                </c:pt>
                <c:pt idx="8">
                  <c:v>21/09</c:v>
                </c:pt>
                <c:pt idx="9">
                  <c:v>28/09</c:v>
                </c:pt>
              </c:strCache>
            </c:strRef>
          </c:cat>
          <c:val>
            <c:numRef>
              <c:f>'Curva S'!$B$4:$B$13</c:f>
              <c:numCache>
                <c:formatCode>0.0%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0.66666666666666663</c:v>
                </c:pt>
                <c:pt idx="3">
                  <c:v>0.7142857142857143</c:v>
                </c:pt>
                <c:pt idx="4">
                  <c:v>0.76190476190476186</c:v>
                </c:pt>
                <c:pt idx="5">
                  <c:v>0.80952380952380953</c:v>
                </c:pt>
                <c:pt idx="6">
                  <c:v>0.8571428571428571</c:v>
                </c:pt>
                <c:pt idx="7">
                  <c:v>0.90476190476190477</c:v>
                </c:pt>
                <c:pt idx="8">
                  <c:v>0.95238095238095233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38-424F-AE1D-20155880A7FE}"/>
            </c:ext>
          </c:extLst>
        </c:ser>
        <c:ser>
          <c:idx val="1"/>
          <c:order val="1"/>
          <c:tx>
            <c:strRef>
              <c:f>'Curva S'!$C$3</c:f>
              <c:strCache>
                <c:ptCount val="1"/>
                <c:pt idx="0">
                  <c:v>Realizado (acum.)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'Curva S'!$A$4:$A$13</c:f>
              <c:strCache>
                <c:ptCount val="10"/>
                <c:pt idx="0">
                  <c:v>Início</c:v>
                </c:pt>
                <c:pt idx="1">
                  <c:v>03/08</c:v>
                </c:pt>
                <c:pt idx="2">
                  <c:v>10/08</c:v>
                </c:pt>
                <c:pt idx="3">
                  <c:v>17/08</c:v>
                </c:pt>
                <c:pt idx="4">
                  <c:v>24/08</c:v>
                </c:pt>
                <c:pt idx="5">
                  <c:v>31/08</c:v>
                </c:pt>
                <c:pt idx="6">
                  <c:v>07/09</c:v>
                </c:pt>
                <c:pt idx="7">
                  <c:v>14/09</c:v>
                </c:pt>
                <c:pt idx="8">
                  <c:v>21/09</c:v>
                </c:pt>
                <c:pt idx="9">
                  <c:v>28/09</c:v>
                </c:pt>
              </c:strCache>
            </c:strRef>
          </c:cat>
          <c:val>
            <c:numRef>
              <c:f>'Curva S'!$C$4:$C$13</c:f>
              <c:numCache>
                <c:formatCode>0.0%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38-424F-AE1D-20155880A7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28799743"/>
        <c:axId val="2034916351"/>
      </c:lineChart>
      <c:catAx>
        <c:axId val="202879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4916351"/>
        <c:crosses val="autoZero"/>
        <c:auto val="1"/>
        <c:lblAlgn val="ctr"/>
        <c:lblOffset val="100"/>
        <c:noMultiLvlLbl val="0"/>
      </c:catAx>
      <c:valAx>
        <c:axId val="2034916351"/>
        <c:scaling>
          <c:orientation val="minMax"/>
          <c:max val="1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2028799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400" b="1" i="0" u="none" strike="noStrike" kern="120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/>
            </a:pP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400" b="1" i="0" u="none" strike="noStrike" kern="120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4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01/09/2026)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S'!$C$4</c:f>
              <c:strCache>
                <c:ptCount val="1"/>
                <c:pt idx="0">
                  <c:v>% Previsto Acum.</c:v>
                </c:pt>
              </c:strCache>
            </c:strRef>
          </c:tx>
          <c:spPr>
            <a:ln w="28575" cap="rnd">
              <a:solidFill>
                <a:srgbClr val="1F4E7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F4E78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4788-EF4B-BF85-0E3C1ACB151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88-EF4B-BF85-0E3C1ACB151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788-EF4B-BF85-0E3C1ACB151A}"/>
                </c:ext>
              </c:extLst>
            </c:dLbl>
            <c:dLbl>
              <c:idx val="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F4E78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788-EF4B-BF85-0E3C1ACB151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788-EF4B-BF85-0E3C1ACB151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88-EF4B-BF85-0E3C1ACB151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788-EF4B-BF85-0E3C1ACB151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88-EF4B-BF85-0E3C1ACB151A}"/>
                </c:ext>
              </c:extLst>
            </c:dLbl>
            <c:dLbl>
              <c:idx val="8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F4E78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4788-EF4B-BF85-0E3C1ACB151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788-EF4B-BF85-0E3C1ACB151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788-EF4B-BF85-0E3C1ACB151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788-EF4B-BF85-0E3C1ACB151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788-EF4B-BF85-0E3C1ACB151A}"/>
                </c:ext>
              </c:extLst>
            </c:dLbl>
            <c:dLbl>
              <c:idx val="1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F4E78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4788-EF4B-BF85-0E3C1ACB151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788-EF4B-BF85-0E3C1ACB151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788-EF4B-BF85-0E3C1ACB151A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788-EF4B-BF85-0E3C1ACB151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788-EF4B-BF85-0E3C1ACB151A}"/>
                </c:ext>
              </c:extLst>
            </c:dLbl>
            <c:dLbl>
              <c:idx val="18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F4E78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4788-EF4B-BF85-0E3C1ACB151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788-EF4B-BF85-0E3C1ACB151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788-EF4B-BF85-0E3C1ACB151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788-EF4B-BF85-0E3C1ACB151A}"/>
                </c:ext>
              </c:extLst>
            </c:dLbl>
            <c:numFmt formatCode="#,#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'Curva S'!$BQ$5:$BQ$26</c:f>
              <c:strCache>
                <c:ptCount val="19"/>
                <c:pt idx="0">
                  <c:v>19/08</c:v>
                </c:pt>
                <c:pt idx="3">
                  <c:v>24/08</c:v>
                </c:pt>
                <c:pt idx="8">
                  <c:v>31/08</c:v>
                </c:pt>
                <c:pt idx="13">
                  <c:v>07/09</c:v>
                </c:pt>
                <c:pt idx="18">
                  <c:v>14/09</c:v>
                </c:pt>
              </c:strCache>
            </c:strRef>
          </c:cat>
          <c:val>
            <c:numRef>
              <c:f>'Curva S'!$C$5:$C$26</c:f>
              <c:numCache>
                <c:formatCode>0.0%</c:formatCode>
                <c:ptCount val="22"/>
                <c:pt idx="0">
                  <c:v>2.7027027027027029E-2</c:v>
                </c:pt>
                <c:pt idx="1">
                  <c:v>5.4054054054054057E-2</c:v>
                </c:pt>
                <c:pt idx="2">
                  <c:v>8.1081081081081086E-2</c:v>
                </c:pt>
                <c:pt idx="3">
                  <c:v>0.10810810810810811</c:v>
                </c:pt>
                <c:pt idx="4">
                  <c:v>0.16216216216216217</c:v>
                </c:pt>
                <c:pt idx="5">
                  <c:v>0.21621621621621623</c:v>
                </c:pt>
                <c:pt idx="6">
                  <c:v>0.27027027027027029</c:v>
                </c:pt>
                <c:pt idx="7">
                  <c:v>0.32432432432432434</c:v>
                </c:pt>
                <c:pt idx="8">
                  <c:v>0.35135135135135137</c:v>
                </c:pt>
                <c:pt idx="9">
                  <c:v>0.40540540540540543</c:v>
                </c:pt>
                <c:pt idx="10">
                  <c:v>0.45945945945945948</c:v>
                </c:pt>
                <c:pt idx="11">
                  <c:v>0.5135135135135136</c:v>
                </c:pt>
                <c:pt idx="12">
                  <c:v>0.56756756756756754</c:v>
                </c:pt>
                <c:pt idx="13">
                  <c:v>0.6216216216216216</c:v>
                </c:pt>
                <c:pt idx="14">
                  <c:v>0.67567567567567566</c:v>
                </c:pt>
                <c:pt idx="15">
                  <c:v>0.7297297297297296</c:v>
                </c:pt>
                <c:pt idx="16">
                  <c:v>0.78378378378378377</c:v>
                </c:pt>
                <c:pt idx="17">
                  <c:v>0.83783783783783783</c:v>
                </c:pt>
                <c:pt idx="18">
                  <c:v>0.89189189189189189</c:v>
                </c:pt>
                <c:pt idx="19">
                  <c:v>0.94594594594594583</c:v>
                </c:pt>
                <c:pt idx="20">
                  <c:v>0.9729729729729728</c:v>
                </c:pt>
                <c:pt idx="21">
                  <c:v>0.99999999999999978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4788-EF4B-BF85-0E3C1ACB151A}"/>
            </c:ext>
          </c:extLst>
        </c:ser>
        <c:ser>
          <c:idx val="1"/>
          <c:order val="1"/>
          <c:tx>
            <c:strRef>
              <c:f>'Curva S'!$D$4</c:f>
              <c:strCache>
                <c:ptCount val="1"/>
                <c:pt idx="0">
                  <c:v>% Real Acum.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4788-EF4B-BF85-0E3C1ACB151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788-EF4B-BF85-0E3C1ACB151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788-EF4B-BF85-0E3C1ACB151A}"/>
                </c:ext>
              </c:extLst>
            </c:dLbl>
            <c:dLbl>
              <c:idx val="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A-4788-EF4B-BF85-0E3C1ACB151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788-EF4B-BF85-0E3C1ACB151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4788-EF4B-BF85-0E3C1ACB151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788-EF4B-BF85-0E3C1ACB151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4788-EF4B-BF85-0E3C1ACB151A}"/>
                </c:ext>
              </c:extLst>
            </c:dLbl>
            <c:dLbl>
              <c:idx val="8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4788-EF4B-BF85-0E3C1ACB151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4788-EF4B-BF85-0E3C1ACB151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788-EF4B-BF85-0E3C1ACB151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4788-EF4B-BF85-0E3C1ACB151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4788-EF4B-BF85-0E3C1ACB151A}"/>
                </c:ext>
              </c:extLst>
            </c:dLbl>
            <c:dLbl>
              <c:idx val="1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4-4788-EF4B-BF85-0E3C1ACB151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4788-EF4B-BF85-0E3C1ACB151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4788-EF4B-BF85-0E3C1ACB151A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4788-EF4B-BF85-0E3C1ACB151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4788-EF4B-BF85-0E3C1ACB151A}"/>
                </c:ext>
              </c:extLst>
            </c:dLbl>
            <c:dLbl>
              <c:idx val="18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9-4788-EF4B-BF85-0E3C1ACB151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4788-EF4B-BF85-0E3C1ACB151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4788-EF4B-BF85-0E3C1ACB151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4788-EF4B-BF85-0E3C1ACB151A}"/>
                </c:ext>
              </c:extLst>
            </c:dLbl>
            <c:numFmt formatCode="#,#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'Curva S'!$BQ$5:$BQ$26</c:f>
              <c:strCache>
                <c:ptCount val="19"/>
                <c:pt idx="0">
                  <c:v>19/08</c:v>
                </c:pt>
                <c:pt idx="3">
                  <c:v>24/08</c:v>
                </c:pt>
                <c:pt idx="8">
                  <c:v>31/08</c:v>
                </c:pt>
                <c:pt idx="13">
                  <c:v>07/09</c:v>
                </c:pt>
                <c:pt idx="18">
                  <c:v>14/09</c:v>
                </c:pt>
              </c:strCache>
            </c:strRef>
          </c:cat>
          <c:val>
            <c:numRef>
              <c:f>'Curva S'!$D$5:$D$26</c:f>
              <c:numCache>
                <c:formatCode>0.0%</c:formatCode>
                <c:ptCount val="22"/>
                <c:pt idx="0">
                  <c:v>3.0145530145530144E-2</c:v>
                </c:pt>
                <c:pt idx="1">
                  <c:v>6.0291060291060287E-2</c:v>
                </c:pt>
                <c:pt idx="2">
                  <c:v>9.0436590436590442E-2</c:v>
                </c:pt>
                <c:pt idx="3">
                  <c:v>0.12058212058212057</c:v>
                </c:pt>
                <c:pt idx="4">
                  <c:v>0.15072765072765074</c:v>
                </c:pt>
                <c:pt idx="5">
                  <c:v>0.18087318087318088</c:v>
                </c:pt>
                <c:pt idx="6">
                  <c:v>0.211018711018711</c:v>
                </c:pt>
                <c:pt idx="7">
                  <c:v>0.24116424116424115</c:v>
                </c:pt>
                <c:pt idx="8">
                  <c:v>0.2713097713097713</c:v>
                </c:pt>
                <c:pt idx="9">
                  <c:v>0.30145530145530147</c:v>
                </c:pt>
                <c:pt idx="10">
                  <c:v>0.33160083160083159</c:v>
                </c:pt>
                <c:pt idx="11">
                  <c:v>0.36174636174636177</c:v>
                </c:pt>
                <c:pt idx="12">
                  <c:v>0.39189189189189189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D-4788-EF4B-BF85-0E3C1ACB1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592959"/>
        <c:axId val="2125572608"/>
      </c:lineChart>
      <c:catAx>
        <c:axId val="496592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Data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dd/m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5572608"/>
        <c:crosses val="autoZero"/>
        <c:auto val="0"/>
        <c:lblAlgn val="ctr"/>
        <c:lblOffset val="100"/>
        <c:noMultiLvlLbl val="0"/>
      </c:catAx>
      <c:valAx>
        <c:axId val="2125572608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% Acumulado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9659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Curva S — Progresso Geral do </a:t>
            </a:r>
            <a:r>
              <a:rPr lang="en-US" sz="1400" b="1" i="0" u="none" strike="noStrike" kern="1200" spc="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Projeto</a:t>
            </a:r>
            <a:endParaRPr lang="en-US" sz="1400" b="1" i="0" u="none" strike="noStrike" kern="1200" spc="0" baseline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defRPr/>
            </a:pPr>
            <a:r>
              <a:rPr lang="en-US" sz="1400" b="1" i="0" u="none" strike="noStrike" kern="1200" spc="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sz="1400" b="1" i="0" u="none" strike="noStrike" kern="1200" spc="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posição</a:t>
            </a:r>
            <a:r>
              <a:rPr lang="en-US" sz="1400" b="1" i="0" u="none" strike="noStrike" kern="1200" spc="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400" b="1" i="0" u="none" strike="noStrike" kern="1200" spc="0" baseline="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em</a:t>
            </a:r>
            <a:r>
              <a:rPr lang="en-US" sz="1400" b="1" i="0" u="none" strike="noStrike" kern="1200" spc="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 04/09/2026)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S'!$C$4</c:f>
              <c:strCache>
                <c:ptCount val="1"/>
                <c:pt idx="0">
                  <c:v>% Previsto Acum.</c:v>
                </c:pt>
              </c:strCache>
            </c:strRef>
          </c:tx>
          <c:spPr>
            <a:ln w="28575" cap="rnd">
              <a:solidFill>
                <a:srgbClr val="1F4E7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46-1F46-9C0E-861A17C70A6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46-1F46-9C0E-861A17C70A6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446-1F46-9C0E-861A17C70A6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46-1F46-9C0E-861A17C70A6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446-1F46-9C0E-861A17C70A6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446-1F46-9C0E-861A17C70A6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446-1F46-9C0E-861A17C70A6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446-1F46-9C0E-861A17C70A6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446-1F46-9C0E-861A17C70A6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446-1F46-9C0E-861A17C70A6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446-1F46-9C0E-861A17C70A6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446-1F46-9C0E-861A17C70A6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446-1F46-9C0E-861A17C70A6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446-1F46-9C0E-861A17C70A6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446-1F46-9C0E-861A17C70A6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446-1F46-9C0E-861A17C70A6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446-1F46-9C0E-861A17C70A6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446-1F46-9C0E-861A17C70A6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446-1F46-9C0E-861A17C70A6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446-1F46-9C0E-861A17C70A6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446-1F46-9C0E-861A17C70A6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446-1F46-9C0E-861A17C70A6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446-1F46-9C0E-861A17C70A6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446-1F46-9C0E-861A17C70A6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446-1F46-9C0E-861A17C70A66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446-1F46-9C0E-861A17C70A66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446-1F46-9C0E-861A17C70A66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446-1F46-9C0E-861A17C70A66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446-1F46-9C0E-861A17C70A66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446-1F46-9C0E-861A17C70A66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446-1F46-9C0E-861A17C70A66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446-1F46-9C0E-861A17C70A66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446-1F46-9C0E-861A17C70A6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'Curva S'!$AJ$5:$AJ$45</c:f>
              <c:strCache>
                <c:ptCount val="37"/>
                <c:pt idx="1">
                  <c:v>24/08</c:v>
                </c:pt>
                <c:pt idx="6">
                  <c:v>31/08</c:v>
                </c:pt>
                <c:pt idx="11">
                  <c:v>07/09</c:v>
                </c:pt>
                <c:pt idx="16">
                  <c:v>14/09</c:v>
                </c:pt>
                <c:pt idx="21">
                  <c:v>21/09</c:v>
                </c:pt>
                <c:pt idx="26">
                  <c:v>28/09</c:v>
                </c:pt>
                <c:pt idx="31">
                  <c:v>05/10</c:v>
                </c:pt>
                <c:pt idx="36">
                  <c:v>12/10</c:v>
                </c:pt>
              </c:strCache>
            </c:strRef>
          </c:cat>
          <c:val>
            <c:numRef>
              <c:f>'Curva S'!$C$5:$C$45</c:f>
              <c:numCache>
                <c:formatCode>0.0%</c:formatCode>
                <c:ptCount val="41"/>
                <c:pt idx="0">
                  <c:v>3.9215686274509803E-2</c:v>
                </c:pt>
                <c:pt idx="1">
                  <c:v>7.8431372549019607E-2</c:v>
                </c:pt>
                <c:pt idx="2">
                  <c:v>0.11764705882352941</c:v>
                </c:pt>
                <c:pt idx="3">
                  <c:v>0.15686274509803921</c:v>
                </c:pt>
                <c:pt idx="4">
                  <c:v>0.19607843137254904</c:v>
                </c:pt>
                <c:pt idx="5">
                  <c:v>0.23529411764705882</c:v>
                </c:pt>
                <c:pt idx="6">
                  <c:v>0.27450980392156865</c:v>
                </c:pt>
                <c:pt idx="7">
                  <c:v>0.31372549019607843</c:v>
                </c:pt>
                <c:pt idx="8">
                  <c:v>0.3529411764705882</c:v>
                </c:pt>
                <c:pt idx="9">
                  <c:v>0.37254901960784315</c:v>
                </c:pt>
                <c:pt idx="10">
                  <c:v>0.39215686274509803</c:v>
                </c:pt>
                <c:pt idx="11">
                  <c:v>0.41176470588235292</c:v>
                </c:pt>
                <c:pt idx="12">
                  <c:v>0.43137254901960786</c:v>
                </c:pt>
                <c:pt idx="13">
                  <c:v>0.47058823529411764</c:v>
                </c:pt>
                <c:pt idx="14">
                  <c:v>0.49019607843137258</c:v>
                </c:pt>
                <c:pt idx="15">
                  <c:v>0.50980392156862753</c:v>
                </c:pt>
                <c:pt idx="16">
                  <c:v>0.52941176470588236</c:v>
                </c:pt>
                <c:pt idx="17">
                  <c:v>0.5490196078431373</c:v>
                </c:pt>
                <c:pt idx="18">
                  <c:v>0.56862745098039214</c:v>
                </c:pt>
                <c:pt idx="19">
                  <c:v>0.58823529411764708</c:v>
                </c:pt>
                <c:pt idx="20">
                  <c:v>0.60784313725490202</c:v>
                </c:pt>
                <c:pt idx="21">
                  <c:v>0.62745098039215685</c:v>
                </c:pt>
                <c:pt idx="22">
                  <c:v>0.62745098039215685</c:v>
                </c:pt>
                <c:pt idx="23">
                  <c:v>0.6470588235294118</c:v>
                </c:pt>
                <c:pt idx="24">
                  <c:v>0.66666666666666663</c:v>
                </c:pt>
                <c:pt idx="25">
                  <c:v>0.68627450980392157</c:v>
                </c:pt>
                <c:pt idx="26">
                  <c:v>0.70588235294117641</c:v>
                </c:pt>
                <c:pt idx="27">
                  <c:v>0.72549019607843135</c:v>
                </c:pt>
                <c:pt idx="28">
                  <c:v>0.74509803921568629</c:v>
                </c:pt>
                <c:pt idx="29">
                  <c:v>0.76470588235294112</c:v>
                </c:pt>
                <c:pt idx="30">
                  <c:v>0.78431372549019607</c:v>
                </c:pt>
                <c:pt idx="31">
                  <c:v>0.80392156862745101</c:v>
                </c:pt>
                <c:pt idx="32">
                  <c:v>0.82352941176470595</c:v>
                </c:pt>
                <c:pt idx="33">
                  <c:v>0.84313725490196079</c:v>
                </c:pt>
                <c:pt idx="34">
                  <c:v>0.86274509803921573</c:v>
                </c:pt>
                <c:pt idx="35">
                  <c:v>0.88235294117647056</c:v>
                </c:pt>
                <c:pt idx="36">
                  <c:v>0.90196078431372551</c:v>
                </c:pt>
                <c:pt idx="37">
                  <c:v>0.94117647058823528</c:v>
                </c:pt>
                <c:pt idx="38">
                  <c:v>0.96078431372549011</c:v>
                </c:pt>
                <c:pt idx="39">
                  <c:v>0.98039215686274506</c:v>
                </c:pt>
                <c:pt idx="4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1-7446-1F46-9C0E-861A17C70A66}"/>
            </c:ext>
          </c:extLst>
        </c:ser>
        <c:ser>
          <c:idx val="1"/>
          <c:order val="1"/>
          <c:tx>
            <c:strRef>
              <c:f>'Curva S'!$D$4</c:f>
              <c:strCache>
                <c:ptCount val="1"/>
                <c:pt idx="0">
                  <c:v>% Real Acum.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7446-1F46-9C0E-861A17C70A6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446-1F46-9C0E-861A17C70A6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7446-1F46-9C0E-861A17C70A6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446-1F46-9C0E-861A17C70A6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446-1F46-9C0E-861A17C70A6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446-1F46-9C0E-861A17C70A6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446-1F46-9C0E-861A17C70A6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446-1F46-9C0E-861A17C70A6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446-1F46-9C0E-861A17C70A6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446-1F46-9C0E-861A17C70A6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446-1F46-9C0E-861A17C70A6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446-1F46-9C0E-861A17C70A6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7446-1F46-9C0E-861A17C70A6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7446-1F46-9C0E-861A17C70A6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7446-1F46-9C0E-861A17C70A6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7446-1F46-9C0E-861A17C70A6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7446-1F46-9C0E-861A17C70A6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7446-1F46-9C0E-861A17C70A6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7446-1F46-9C0E-861A17C70A6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7446-1F46-9C0E-861A17C70A6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7446-1F46-9C0E-861A17C70A6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7446-1F46-9C0E-861A17C70A6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7446-1F46-9C0E-861A17C70A6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7446-1F46-9C0E-861A17C70A6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7446-1F46-9C0E-861A17C70A66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7446-1F46-9C0E-861A17C70A66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7446-1F46-9C0E-861A17C70A66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7446-1F46-9C0E-861A17C70A66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7446-1F46-9C0E-861A17C70A66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7446-1F46-9C0E-861A17C70A66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7446-1F46-9C0E-861A17C70A66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7446-1F46-9C0E-861A17C70A66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7446-1F46-9C0E-861A17C70A66}"/>
                </c:ext>
              </c:extLst>
            </c:dLbl>
            <c:numFmt formatCode="#,#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'Curva S'!$AJ$5:$AJ$45</c:f>
              <c:strCache>
                <c:ptCount val="37"/>
                <c:pt idx="1">
                  <c:v>24/08</c:v>
                </c:pt>
                <c:pt idx="6">
                  <c:v>31/08</c:v>
                </c:pt>
                <c:pt idx="11">
                  <c:v>07/09</c:v>
                </c:pt>
                <c:pt idx="16">
                  <c:v>14/09</c:v>
                </c:pt>
                <c:pt idx="21">
                  <c:v>21/09</c:v>
                </c:pt>
                <c:pt idx="26">
                  <c:v>28/09</c:v>
                </c:pt>
                <c:pt idx="31">
                  <c:v>05/10</c:v>
                </c:pt>
                <c:pt idx="36">
                  <c:v>12/10</c:v>
                </c:pt>
              </c:strCache>
            </c:strRef>
          </c:cat>
          <c:val>
            <c:numRef>
              <c:f>'Curva S'!$D$5:$D$45</c:f>
              <c:numCache>
                <c:formatCode>0.0%</c:formatCode>
                <c:ptCount val="41"/>
                <c:pt idx="0">
                  <c:v>5.659536541889483E-2</c:v>
                </c:pt>
                <c:pt idx="1">
                  <c:v>0.11319073083778966</c:v>
                </c:pt>
                <c:pt idx="2">
                  <c:v>0.1697860962566845</c:v>
                </c:pt>
                <c:pt idx="3">
                  <c:v>0.22638146167557932</c:v>
                </c:pt>
                <c:pt idx="4">
                  <c:v>0.28297682709447414</c:v>
                </c:pt>
                <c:pt idx="5">
                  <c:v>0.33957219251336901</c:v>
                </c:pt>
                <c:pt idx="6">
                  <c:v>0.39616755793226377</c:v>
                </c:pt>
                <c:pt idx="7">
                  <c:v>0.45276292335115864</c:v>
                </c:pt>
                <c:pt idx="8">
                  <c:v>0.50935828877005351</c:v>
                </c:pt>
                <c:pt idx="9">
                  <c:v>0.56595365418894827</c:v>
                </c:pt>
                <c:pt idx="10">
                  <c:v>0.62254901960784315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3-7446-1F46-9C0E-861A17C70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592959"/>
        <c:axId val="2125572608"/>
      </c:lineChart>
      <c:catAx>
        <c:axId val="496592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Data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5572608"/>
        <c:crosses val="autoZero"/>
        <c:auto val="0"/>
        <c:lblAlgn val="ctr"/>
        <c:lblOffset val="100"/>
        <c:noMultiLvlLbl val="0"/>
      </c:catAx>
      <c:valAx>
        <c:axId val="2125572608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% Acumulado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9659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Curva S - </a:t>
            </a:r>
            <a:r>
              <a:rPr lang="en-US" sz="14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Avanço</a:t>
            </a:r>
            <a:r>
              <a:rPr 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14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Previsto</a:t>
            </a:r>
            <a:r>
              <a:rPr 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x Real</a:t>
            </a:r>
          </a:p>
          <a:p>
            <a:pPr>
              <a:defRPr/>
            </a:pPr>
            <a:r>
              <a:rPr lang="en-US" sz="14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Situação</a:t>
            </a:r>
            <a:r>
              <a:rPr 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14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em</a:t>
            </a:r>
            <a:r>
              <a:rPr 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04/09/26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'Curva S'!$C$4</c:f>
              <c:strCache>
                <c:ptCount val="1"/>
                <c:pt idx="0">
                  <c:v>% Previsto Acum.</c:v>
                </c:pt>
              </c:strCache>
            </c:strRef>
          </c:tx>
          <c:spPr>
            <a:ln w="28575" cap="rnd">
              <a:solidFill>
                <a:srgbClr val="1F4E7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'Curva S'!$B$5:$B$13</c:f>
              <c:numCache>
                <c:formatCode>dd/mm</c:formatCode>
                <c:ptCount val="9"/>
                <c:pt idx="0">
                  <c:v>46258</c:v>
                </c:pt>
                <c:pt idx="1">
                  <c:v>46265</c:v>
                </c:pt>
                <c:pt idx="2">
                  <c:v>46272</c:v>
                </c:pt>
                <c:pt idx="3">
                  <c:v>46279</c:v>
                </c:pt>
                <c:pt idx="4">
                  <c:v>46286</c:v>
                </c:pt>
                <c:pt idx="5">
                  <c:v>46293</c:v>
                </c:pt>
                <c:pt idx="6">
                  <c:v>46300</c:v>
                </c:pt>
                <c:pt idx="7">
                  <c:v>46307</c:v>
                </c:pt>
                <c:pt idx="8">
                  <c:v>46310</c:v>
                </c:pt>
              </c:numCache>
            </c:numRef>
          </c:cat>
          <c:val>
            <c:numRef>
              <c:f>'Curva S'!$C$5:$C$13</c:f>
              <c:numCache>
                <c:formatCode>0.0%</c:formatCode>
                <c:ptCount val="9"/>
                <c:pt idx="0">
                  <c:v>2.5000000000000001E-2</c:v>
                </c:pt>
                <c:pt idx="1">
                  <c:v>0.17500000000000002</c:v>
                </c:pt>
                <c:pt idx="2">
                  <c:v>0.30000000000000004</c:v>
                </c:pt>
                <c:pt idx="3">
                  <c:v>0.42500000000000004</c:v>
                </c:pt>
                <c:pt idx="4">
                  <c:v>0.55000000000000004</c:v>
                </c:pt>
                <c:pt idx="5">
                  <c:v>0.70000000000000018</c:v>
                </c:pt>
                <c:pt idx="6">
                  <c:v>0.80000000000000027</c:v>
                </c:pt>
                <c:pt idx="7">
                  <c:v>0.92500000000000038</c:v>
                </c:pt>
                <c:pt idx="8">
                  <c:v>1.0000000000000004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CD-7A42-88FF-44138925AA83}"/>
            </c:ext>
          </c:extLst>
        </c:ser>
        <c:ser>
          <c:idx val="1"/>
          <c:order val="1"/>
          <c:tx>
            <c:strRef>
              <c:f>'Curva S'!$D$4</c:f>
              <c:strCache>
                <c:ptCount val="1"/>
                <c:pt idx="0">
                  <c:v>% Real Acum.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'Curva S'!$B$5:$B$13</c:f>
              <c:numCache>
                <c:formatCode>dd/mm</c:formatCode>
                <c:ptCount val="9"/>
                <c:pt idx="0">
                  <c:v>46258</c:v>
                </c:pt>
                <c:pt idx="1">
                  <c:v>46265</c:v>
                </c:pt>
                <c:pt idx="2">
                  <c:v>46272</c:v>
                </c:pt>
                <c:pt idx="3">
                  <c:v>46279</c:v>
                </c:pt>
                <c:pt idx="4">
                  <c:v>46286</c:v>
                </c:pt>
                <c:pt idx="5">
                  <c:v>46293</c:v>
                </c:pt>
                <c:pt idx="6">
                  <c:v>46300</c:v>
                </c:pt>
                <c:pt idx="7">
                  <c:v>46307</c:v>
                </c:pt>
                <c:pt idx="8">
                  <c:v>46310</c:v>
                </c:pt>
              </c:numCache>
            </c:numRef>
          </c:cat>
          <c:val>
            <c:numRef>
              <c:f>'Curva S'!$D$5:$D$13</c:f>
              <c:numCache>
                <c:formatCode>0.0%</c:formatCode>
                <c:ptCount val="9"/>
                <c:pt idx="0">
                  <c:v>2.5000000000000001E-2</c:v>
                </c:pt>
                <c:pt idx="1">
                  <c:v>7.4999999999999997E-2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CD-7A42-88FF-44138925AA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592959"/>
        <c:axId val="2125572608"/>
      </c:lineChart>
      <c:catAx>
        <c:axId val="496592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Data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dd/m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5572608"/>
        <c:crosses val="autoZero"/>
        <c:auto val="0"/>
        <c:lblAlgn val="ctr"/>
        <c:lblOffset val="100"/>
        <c:noMultiLvlLbl val="0"/>
      </c:catAx>
      <c:valAx>
        <c:axId val="2125572608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% Acumulado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9659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8D1A9-B445-4DF7-B561-9CFCAC9CC8A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6BA95-3F57-4498-8763-A19BEE1D7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05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7A13-E8CB-6A3A-BE7E-D26BA2FE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13FFF-B48B-DE85-D0C4-9B67A6A8A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4F289-C4AB-1C47-81AB-9C23ECFE1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2BF2D-3DA8-5E53-DA7F-7F5C23634F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76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D0C1-2F12-4050-AF20-7EEA40B1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2030D-469A-5475-2F8E-89CE20374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A270F-03DA-63EF-CF78-4C6753862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514EB-7722-B01E-F1B1-3E0AD2198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14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ADEC-1687-F97D-A3C1-D5A785A2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30AC3146-00A8-13CA-876D-9DD6C3342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394DDC3D-77F5-6DFE-116C-DAEFAB6C6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40D4A4-30B4-622E-03AC-10E531C62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214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1A33-EFF0-22FA-95A9-8F8E4C23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A0027A16-DAB2-450A-CA2B-5830445463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B40D688F-FA03-41BF-3397-FA3C64677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BD74D4-2E44-53C4-344F-2AF681DE9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246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60E3-4C2D-ABE9-12D0-E82EDF7C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FD429817-F0A6-009F-4A0E-AD8764DEC5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0DE41095-06F0-9831-1343-964CB2E96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BCCE98-F04A-31FF-B6F5-8A5A1C6AA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074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0912-BBD9-35EE-AEA2-196A6996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6BAFBC05-3DDA-E87A-666D-DE0CE197E6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462EB7A1-EA18-AF5F-7910-6E45185F66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C9929-8F4F-8EED-C335-D939C51E7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286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2C29-5235-F1CF-37A0-DFEFF9B3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C182EEC3-1508-B345-A021-7F4BEA91D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BE50C45F-76B4-B877-A4D1-D1097BACD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E62E36-868D-9998-A3B0-6C737D1EC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475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EA4F-28C6-FC23-E0AA-48A80E8C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4BE15C3E-47FB-C9A2-A297-5C54862F9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54300D79-AFC5-2211-AE0E-DCE01DFF3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FC81BE-DF93-1693-7959-401FAB9DF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6823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DF784-0C48-D6CE-2D13-D1A4504F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6F76F099-DC84-952A-5D22-F284F75845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95C4D6EC-E83B-D293-7A5E-4AFCE2154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1EA951-0872-DF02-0C45-DD8E1B9FD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655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636F-11E7-13A5-23A0-F2671965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6D0377DA-94BB-5222-1F38-976DD1B2B6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002B633F-2745-03DB-66FE-7B466A5B6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6AD03B-1635-E332-1755-1E74059EF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321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00F3-40EC-DA26-E1FC-6780324C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F6331FAF-B33C-793F-236B-C3EEEFCDB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E9EA2A99-F739-B321-261C-294CE3DEB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32A378-89B4-F263-5CD3-F5995D860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0814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F7C9-D594-0FA5-594F-C7C2913C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58BF1E85-FDCC-D326-44F4-3052FB65C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BC46F81A-3626-3D20-0BC9-1BC826F65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841F8A-BBEC-AF7F-E6B9-4B4772EA3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835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1C6FA-24CD-8DDF-5EF6-93B15284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ED10ABA8-116E-7BEF-7D4E-63B167BEE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C2202A26-2AE9-EB12-F7C1-714F44F2E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2BE347-8D49-93B2-64E8-596AA1D72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705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38EA-6548-440E-611B-9FCE04B5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4D757D48-D14F-C0B0-F2B7-9F241EE4D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37EAF3DC-A9E5-A691-F9BA-3824B2A88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CA5B6E-1D8A-5B5F-4AA8-98CAF405B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9083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A57AF-57E6-1824-0120-09F01E16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A90C568D-2D9A-4DFF-F6E8-52328BDB04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CCBCFB32-6210-4E2E-6EBD-1328F5211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F259B0-0EFF-0EDC-8BCC-FCCB622C3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74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59B44-B26B-D792-3E6B-120C4528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2CD91825-BC75-F876-5170-C436165EB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385C855B-8E3A-8E4F-E23D-4D07B52A0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A895F6-E913-948E-E5D7-6C956648E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32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DBCC8-4A21-2D62-7122-EE9BE5BD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A9122014-DE19-62C9-3300-25E0F7CC8A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F5299EB6-C7AA-D19E-DB5E-589B9AED4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768D05-2B9A-A55C-B8DA-1E878F2E3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154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BBB8-1B72-849F-5222-9C6D79E0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A0E453AE-1532-188F-B19C-15746FB5A7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56B78770-AB5D-6363-4D46-BF25D9EA0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C99011-7069-72E9-A398-9503FCCA4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12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CA998-9AF9-B8BC-5104-7D5E7A45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C7D0BA34-F0C2-5BA7-4617-E93B1E8B72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17A4D8B7-3EE7-5690-CD33-E551A1136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677FBF-77CE-AFBA-AA64-F89F7C44F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859D85-91DE-4101-A055-54F86C9F0A3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707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AC76-7867-E421-A5D2-CB58684F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8C1B9-EC61-8234-1AA6-98ECC57D9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E0CE57-7CD0-C0F1-EF58-676ECE6C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1D617E-F636-EF44-7901-9B4B0DD7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CBBEE2-00EB-63B9-08D2-CA945D77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681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7F13F-6F2F-1D30-A016-B7709A47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69DD74-76F3-D0EF-06E0-1B3EEEE02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6FC379-7670-ACC9-E958-E7324150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27CB7F-982D-E892-5C04-62A01B17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75323F-DC7C-822E-7201-F27CE0A7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1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8687B-0738-74A0-4901-B7EB99C2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5E59C3-3948-64A6-FDBD-AE10DB5F1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CE6569-A8FD-C28E-CCC6-5D7E5AF5D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488141-34D7-C51B-3CFF-B1B2C5D8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8C1609-F0EA-06CD-4A3C-9CDEEC0C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32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D0387-5255-0587-244E-E1CF5627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8D9960-9180-B355-EC74-7A4440D2E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73198C-1446-ABE2-49BC-31D958C1E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C46E9A-8319-EF23-4AF3-8D75FB12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58A5C1-B853-E21D-1EE6-EACE6FB9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9472C3-4868-C1E2-F492-3D8729D0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73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19F77-0957-24B6-6AC3-97680B90F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C2042D-00A4-D282-8FCC-1B4386D2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7F537B-AB84-536D-F44D-0C29687CD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B31EAB-811F-709B-050B-87436663B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0795F9-8D7F-EB8D-CA3B-F76BBAEC4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5FC6D8-599D-80A8-C1B9-7B47FC2E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4ABADE-1A40-020B-F0C4-235885C6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D3E2F7-9EAC-9723-59BD-E9D6449B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64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6C7A1-154A-309C-AF55-B272C67B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90D197-1EAF-12C4-5CAD-A3673EE2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0DE1EE-27FE-7B1B-AE39-8B78660D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7A2F89-A878-A83D-229E-BCD3AAFC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515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17AFF7-47E3-AE07-260E-B1B1654F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F9A361-C52D-A410-7650-56E65E23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06980C-CB36-A220-F314-CC496210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276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D99E6-CEA5-E036-00EF-295A6EE8D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60AD9A-71B1-31E7-B3FC-E972B98A9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D192C4-02AF-3ACE-994D-4B538B52A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B4F12F-7EED-D899-04BD-8AE2DC55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2CAC17-53CB-899C-5679-7AC4FE2A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C550B5-6919-7072-109E-BA8719B7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48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C9E57-87A5-DBD4-8294-B9246B11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81DB19-D1D5-D5E0-10EE-05FC852A3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97F303-6BB1-30F8-2BD2-D9638CE68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7293F5-589E-2553-1028-1813BABE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F36558-EE16-80A6-6B60-ADACF6A2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0801E6-2084-8803-3923-4CED47AB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19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52287-AAD2-C573-EC7D-54E8181F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8C59EB-D704-683F-AB1C-38C43B1B1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1F4DCF-B9EB-7587-1548-1AA1392A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9385FC-11AA-8795-DC0A-2718B5A5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0CB714-3B85-D6FB-E2C4-F65417E3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55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8A4787-F86B-66B9-33C8-298A7133E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1D5972-0F35-E947-3B5A-9582DAF22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D28CF7-A3F8-5779-4CAD-A4777A7D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C9ECD-676C-C806-ED93-524ECD3D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8FEA73-075D-08C1-7374-0A6600D8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813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603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083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17AFF7-47E3-AE07-260E-B1B1654F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F9A361-C52D-A410-7650-56E65E23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06980C-CB36-A220-F314-CC496210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19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DB711A0-C8D1-C068-4398-765E2872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A10111-D5FB-BA3E-C327-87212A13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7A1328-014F-E6F2-2223-4AB79BBA3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98231-CAD6-4C04-94EF-28E9650F5149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7B9A64-CDF8-E669-0D66-D744C788C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7183A8-63D8-9862-C5CD-84ADAF951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7977C-7318-4E6D-A5B9-EEFA556CC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54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20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chart" Target="../charts/chart1.xml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intranet.primedb.solutions/chamados/view?ticketId=414594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intranet.primedb.solutions/chamados/view?ticketId=414594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chart" Target="../charts/char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EA61361-2427-8D88-1A81-0FA00A830988}"/>
              </a:ext>
            </a:extLst>
          </p:cNvPr>
          <p:cNvSpPr txBox="1"/>
          <p:nvPr/>
        </p:nvSpPr>
        <p:spPr>
          <a:xfrm>
            <a:off x="3047163" y="3007863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  <a:p>
            <a:pPr algn="ctr"/>
            <a:endParaRPr lang="pt-BR" sz="1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pic>
        <p:nvPicPr>
          <p:cNvPr id="8" name="Espaço Reservado para Conteúdo 7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B3952EAC-12C8-DE5B-0FEB-743AC8DAC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464E26E-0D8F-EC30-DBC1-2515C6368EC9}"/>
              </a:ext>
            </a:extLst>
          </p:cNvPr>
          <p:cNvSpPr txBox="1"/>
          <p:nvPr/>
        </p:nvSpPr>
        <p:spPr>
          <a:xfrm>
            <a:off x="2753870" y="5476732"/>
            <a:ext cx="6094324" cy="1354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Status Report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04/09/2026</a:t>
            </a:r>
            <a:endParaRPr lang="pt-BR" sz="32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5013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1" descr="Padrão do plano de fundo">
            <a:extLst>
              <a:ext uri="{FF2B5EF4-FFF2-40B4-BE49-F238E27FC236}">
                <a16:creationId xmlns:a16="http://schemas.microsoft.com/office/drawing/2014/main" id="{F7D5907A-097D-9016-2D74-1F47B2220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43840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320" y="146304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— KPIs do Portfólio</a:t>
            </a:r>
            <a:endParaRPr lang="en-US" sz="2933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2560320" cy="18288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02080"/>
            <a:ext cx="487680" cy="48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889760"/>
            <a:ext cx="2560320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365760" y="2560320"/>
            <a:ext cx="25603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Ativos</a:t>
            </a:r>
            <a:endParaRPr lang="en-US" sz="1333"/>
          </a:p>
        </p:txBody>
      </p:sp>
      <p:sp>
        <p:nvSpPr>
          <p:cNvPr id="10" name="Text 6"/>
          <p:cNvSpPr/>
          <p:nvPr/>
        </p:nvSpPr>
        <p:spPr>
          <a:xfrm>
            <a:off x="365760" y="2865120"/>
            <a:ext cx="25603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total</a:t>
            </a:r>
            <a:endParaRPr lang="en-US" sz="1067"/>
          </a:p>
        </p:txBody>
      </p:sp>
      <p:sp>
        <p:nvSpPr>
          <p:cNvPr id="11" name="Shape 7"/>
          <p:cNvSpPr/>
          <p:nvPr/>
        </p:nvSpPr>
        <p:spPr>
          <a:xfrm>
            <a:off x="3267456" y="1280160"/>
            <a:ext cx="180569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336" y="1402080"/>
            <a:ext cx="487680" cy="487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67456" y="1889760"/>
            <a:ext cx="1805699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 dirty="0">
                <a:solidFill>
                  <a:srgbClr val="1E2761"/>
                </a:solidFill>
                <a:ea typeface="Calibri"/>
                <a:cs typeface="Calibri"/>
              </a:rPr>
              <a:t>11</a:t>
            </a:r>
          </a:p>
        </p:txBody>
      </p:sp>
      <p:sp>
        <p:nvSpPr>
          <p:cNvPr id="14" name="Text 9"/>
          <p:cNvSpPr/>
          <p:nvPr/>
        </p:nvSpPr>
        <p:spPr>
          <a:xfrm>
            <a:off x="3267456" y="2560320"/>
            <a:ext cx="1805699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Saudável</a:t>
            </a:r>
            <a:endParaRPr lang="en-US" sz="1333"/>
          </a:p>
        </p:txBody>
      </p:sp>
      <p:sp>
        <p:nvSpPr>
          <p:cNvPr id="15" name="Text 10"/>
          <p:cNvSpPr/>
          <p:nvPr/>
        </p:nvSpPr>
        <p:spPr>
          <a:xfrm>
            <a:off x="3267456" y="2865120"/>
            <a:ext cx="1805699" cy="243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64% dos </a:t>
            </a:r>
            <a:r>
              <a:rPr lang="en-US" sz="105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projetos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18380" y="1280160"/>
            <a:ext cx="180569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1260" y="1402080"/>
            <a:ext cx="487680" cy="4876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8380" y="1889760"/>
            <a:ext cx="1805699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 dirty="0">
                <a:solidFill>
                  <a:srgbClr val="1E2761"/>
                </a:solidFill>
                <a:latin typeface="Calibri"/>
                <a:cs typeface="Calibri"/>
              </a:rPr>
              <a:t>4</a:t>
            </a:r>
            <a:endParaRPr lang="en-US" sz="4800" dirty="0"/>
          </a:p>
        </p:txBody>
      </p:sp>
      <p:sp>
        <p:nvSpPr>
          <p:cNvPr id="19" name="Text 13"/>
          <p:cNvSpPr/>
          <p:nvPr/>
        </p:nvSpPr>
        <p:spPr>
          <a:xfrm>
            <a:off x="5418380" y="2560320"/>
            <a:ext cx="1805699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1333" b="1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333"/>
          </a:p>
        </p:txBody>
      </p:sp>
      <p:sp>
        <p:nvSpPr>
          <p:cNvPr id="20" name="Text 14"/>
          <p:cNvSpPr/>
          <p:nvPr/>
        </p:nvSpPr>
        <p:spPr>
          <a:xfrm>
            <a:off x="5418380" y="2865120"/>
            <a:ext cx="1805699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monitoramento</a:t>
            </a:r>
            <a:endParaRPr lang="en-US" sz="1067"/>
          </a:p>
        </p:txBody>
      </p:sp>
      <p:sp>
        <p:nvSpPr>
          <p:cNvPr id="21" name="Shape 15"/>
          <p:cNvSpPr/>
          <p:nvPr/>
        </p:nvSpPr>
        <p:spPr>
          <a:xfrm>
            <a:off x="7685774" y="1268431"/>
            <a:ext cx="180569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8654" y="1390351"/>
            <a:ext cx="487680" cy="4876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85774" y="1878031"/>
            <a:ext cx="1805699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 dirty="0">
                <a:solidFill>
                  <a:srgbClr val="1E276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4" name="Text 17"/>
          <p:cNvSpPr/>
          <p:nvPr/>
        </p:nvSpPr>
        <p:spPr>
          <a:xfrm>
            <a:off x="7685774" y="2548591"/>
            <a:ext cx="1805699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Crítico</a:t>
            </a:r>
            <a:endParaRPr lang="en-US" sz="1333"/>
          </a:p>
        </p:txBody>
      </p:sp>
      <p:sp>
        <p:nvSpPr>
          <p:cNvPr id="25" name="Text 18"/>
          <p:cNvSpPr/>
          <p:nvPr/>
        </p:nvSpPr>
        <p:spPr>
          <a:xfrm>
            <a:off x="7685774" y="2853391"/>
            <a:ext cx="1805699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imediata</a:t>
            </a:r>
            <a:endParaRPr lang="en-US" sz="1067"/>
          </a:p>
        </p:txBody>
      </p:sp>
      <p:sp>
        <p:nvSpPr>
          <p:cNvPr id="26" name="Shape 19"/>
          <p:cNvSpPr/>
          <p:nvPr/>
        </p:nvSpPr>
        <p:spPr>
          <a:xfrm>
            <a:off x="365759" y="3249159"/>
            <a:ext cx="1586531" cy="1120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0"/>
          <p:cNvSpPr/>
          <p:nvPr/>
        </p:nvSpPr>
        <p:spPr>
          <a:xfrm>
            <a:off x="293163" y="3314423"/>
            <a:ext cx="1659128" cy="530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ea typeface="Calibri"/>
                <a:cs typeface="Calibri"/>
              </a:rPr>
              <a:t>6.325</a:t>
            </a:r>
            <a:endParaRPr lang="en-US" sz="32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93163" y="3866017"/>
            <a:ext cx="1659128" cy="259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BAC (h)</a:t>
            </a:r>
            <a:endParaRPr lang="en-US" sz="1200"/>
          </a:p>
        </p:txBody>
      </p:sp>
      <p:sp>
        <p:nvSpPr>
          <p:cNvPr id="29" name="Shape 22"/>
          <p:cNvSpPr/>
          <p:nvPr/>
        </p:nvSpPr>
        <p:spPr>
          <a:xfrm>
            <a:off x="2242863" y="3266092"/>
            <a:ext cx="1659128" cy="1120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Text 23"/>
          <p:cNvSpPr/>
          <p:nvPr/>
        </p:nvSpPr>
        <p:spPr>
          <a:xfrm>
            <a:off x="2242863" y="3331356"/>
            <a:ext cx="1659128" cy="530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Calibri"/>
                <a:cs typeface="Calibri"/>
              </a:rPr>
              <a:t>2.548</a:t>
            </a:r>
            <a:endParaRPr lang="pt-BR" dirty="0"/>
          </a:p>
        </p:txBody>
      </p:sp>
      <p:sp>
        <p:nvSpPr>
          <p:cNvPr id="31" name="Text 24"/>
          <p:cNvSpPr/>
          <p:nvPr/>
        </p:nvSpPr>
        <p:spPr>
          <a:xfrm>
            <a:off x="2242863" y="3882950"/>
            <a:ext cx="1659128" cy="259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 (h)</a:t>
            </a:r>
            <a:endParaRPr lang="en-US" sz="1200"/>
          </a:p>
        </p:txBody>
      </p:sp>
      <p:sp>
        <p:nvSpPr>
          <p:cNvPr id="32" name="Shape 25"/>
          <p:cNvSpPr/>
          <p:nvPr/>
        </p:nvSpPr>
        <p:spPr>
          <a:xfrm>
            <a:off x="4155362" y="3249159"/>
            <a:ext cx="1659128" cy="1120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Text 26"/>
          <p:cNvSpPr/>
          <p:nvPr/>
        </p:nvSpPr>
        <p:spPr>
          <a:xfrm>
            <a:off x="4118992" y="3314423"/>
            <a:ext cx="1659128" cy="530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ea typeface="Calibri"/>
                <a:cs typeface="Calibri"/>
              </a:rPr>
              <a:t>3.777</a:t>
            </a:r>
          </a:p>
        </p:txBody>
      </p:sp>
      <p:sp>
        <p:nvSpPr>
          <p:cNvPr id="34" name="Text 27"/>
          <p:cNvSpPr/>
          <p:nvPr/>
        </p:nvSpPr>
        <p:spPr>
          <a:xfrm>
            <a:off x="4118992" y="3866017"/>
            <a:ext cx="1659128" cy="259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Total (h)</a:t>
            </a:r>
            <a:endParaRPr lang="en-US" sz="1200"/>
          </a:p>
        </p:txBody>
      </p:sp>
      <p:sp>
        <p:nvSpPr>
          <p:cNvPr id="35" name="Shape 28"/>
          <p:cNvSpPr/>
          <p:nvPr/>
        </p:nvSpPr>
        <p:spPr>
          <a:xfrm>
            <a:off x="9969851" y="3266092"/>
            <a:ext cx="1659128" cy="1120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Text 29"/>
          <p:cNvSpPr/>
          <p:nvPr/>
        </p:nvSpPr>
        <p:spPr>
          <a:xfrm>
            <a:off x="9969851" y="3331356"/>
            <a:ext cx="1659128" cy="530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40%</a:t>
            </a:r>
            <a:endParaRPr lang="en-US" sz="3200" dirty="0">
              <a:latin typeface="Calibri"/>
              <a:ea typeface="Calibri"/>
              <a:cs typeface="Calibri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9969851" y="3882950"/>
            <a:ext cx="1659128" cy="259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Consumo</a:t>
            </a:r>
            <a:endParaRPr lang="en-US" sz="1200"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89D5A425-665A-BAC8-72B7-D2ADD4B9253C}"/>
              </a:ext>
            </a:extLst>
          </p:cNvPr>
          <p:cNvSpPr/>
          <p:nvPr/>
        </p:nvSpPr>
        <p:spPr>
          <a:xfrm>
            <a:off x="9070848" y="46329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CE8875A-9131-F363-3043-D549FEA47B0A}"/>
              </a:ext>
            </a:extLst>
          </p:cNvPr>
          <p:cNvGraphicFramePr>
            <a:graphicFrameLocks noGrp="1"/>
          </p:cNvGraphicFramePr>
          <p:nvPr/>
        </p:nvGraphicFramePr>
        <p:xfrm>
          <a:off x="9205819" y="4726141"/>
          <a:ext cx="2290378" cy="16078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5615">
                  <a:extLst>
                    <a:ext uri="{9D8B030D-6E8A-4147-A177-3AD203B41FA5}">
                      <a16:colId xmlns:a16="http://schemas.microsoft.com/office/drawing/2014/main" val="511844183"/>
                    </a:ext>
                  </a:extLst>
                </a:gridCol>
                <a:gridCol w="1774763">
                  <a:extLst>
                    <a:ext uri="{9D8B030D-6E8A-4147-A177-3AD203B41FA5}">
                      <a16:colId xmlns:a16="http://schemas.microsoft.com/office/drawing/2014/main" val="2702061953"/>
                    </a:ext>
                  </a:extLst>
                </a:gridCol>
              </a:tblGrid>
              <a:tr h="30039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err="1"/>
                        <a:t>Requisitos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83335"/>
                  </a:ext>
                </a:extLst>
              </a:tr>
              <a:tr h="300394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err="1"/>
                        <a:t>Baixo</a:t>
                      </a:r>
                      <a:r>
                        <a:rPr lang="en-US" sz="800"/>
                        <a:t> </a:t>
                      </a:r>
                      <a:r>
                        <a:rPr lang="en-US" sz="800" err="1"/>
                        <a:t>esforço</a:t>
                      </a:r>
                      <a:r>
                        <a:rPr lang="en-US" sz="800"/>
                        <a:t> (</a:t>
                      </a:r>
                      <a:r>
                        <a:rPr lang="en-US" sz="800" err="1"/>
                        <a:t>até</a:t>
                      </a:r>
                      <a:r>
                        <a:rPr lang="en-US" sz="800"/>
                        <a:t> 100h)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098503"/>
                  </a:ext>
                </a:extLst>
              </a:tr>
              <a:tr h="300394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/>
                        <a:t>Médio esforço (101h a 500h)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406964"/>
                  </a:ext>
                </a:extLst>
              </a:tr>
              <a:tr h="300394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/>
                        <a:t>Alto esforço (501h a 1000h)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8519"/>
                  </a:ext>
                </a:extLst>
              </a:tr>
              <a:tr h="406243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/>
                        <a:t>Muito alto esforço (acima de 1000h)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843270"/>
                  </a:ext>
                </a:extLst>
              </a:tr>
            </a:tbl>
          </a:graphicData>
        </a:graphic>
      </p:graphicFrame>
      <p:sp>
        <p:nvSpPr>
          <p:cNvPr id="5" name="CaixaDeTexto 14">
            <a:extLst>
              <a:ext uri="{FF2B5EF4-FFF2-40B4-BE49-F238E27FC236}">
                <a16:creationId xmlns:a16="http://schemas.microsoft.com/office/drawing/2014/main" id="{C94E413D-BEDE-99DA-7A3B-069305C2CBB4}"/>
              </a:ext>
            </a:extLst>
          </p:cNvPr>
          <p:cNvSpPr txBox="1"/>
          <p:nvPr/>
        </p:nvSpPr>
        <p:spPr>
          <a:xfrm>
            <a:off x="10183895" y="6676861"/>
            <a:ext cx="226230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 de horas</a:t>
            </a: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: 21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/08/26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9D25A5F4-B945-271A-1312-78C75E899F2C}"/>
              </a:ext>
            </a:extLst>
          </p:cNvPr>
          <p:cNvSpPr/>
          <p:nvPr/>
        </p:nvSpPr>
        <p:spPr>
          <a:xfrm>
            <a:off x="9837661" y="1280160"/>
            <a:ext cx="180569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832BF99-7C29-DC66-E492-F969A2699AF6}"/>
              </a:ext>
            </a:extLst>
          </p:cNvPr>
          <p:cNvSpPr/>
          <p:nvPr/>
        </p:nvSpPr>
        <p:spPr>
          <a:xfrm>
            <a:off x="9837661" y="1889760"/>
            <a:ext cx="1805699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>
                <a:solidFill>
                  <a:srgbClr val="1E276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279F3BAB-5ABE-2E23-BBB7-53C33296ABB8}"/>
              </a:ext>
            </a:extLst>
          </p:cNvPr>
          <p:cNvSpPr/>
          <p:nvPr/>
        </p:nvSpPr>
        <p:spPr>
          <a:xfrm>
            <a:off x="9837661" y="2560320"/>
            <a:ext cx="1805699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333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286E99F5-8566-4537-A0A3-B8832BCE6C80}"/>
              </a:ext>
            </a:extLst>
          </p:cNvPr>
          <p:cNvSpPr/>
          <p:nvPr/>
        </p:nvSpPr>
        <p:spPr>
          <a:xfrm>
            <a:off x="9837661" y="2865120"/>
            <a:ext cx="1805699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imediata</a:t>
            </a:r>
            <a:endParaRPr lang="en-US" sz="1067"/>
          </a:p>
        </p:txBody>
      </p:sp>
      <p:pic>
        <p:nvPicPr>
          <p:cNvPr id="46" name="Graphic 45" descr="Race Flag with solid fill">
            <a:extLst>
              <a:ext uri="{FF2B5EF4-FFF2-40B4-BE49-F238E27FC236}">
                <a16:creationId xmlns:a16="http://schemas.microsoft.com/office/drawing/2014/main" id="{355323ED-4E91-9332-D256-B5D658BD8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39770" y="1361627"/>
            <a:ext cx="533400" cy="533400"/>
          </a:xfrm>
          <a:prstGeom prst="rect">
            <a:avLst/>
          </a:prstGeom>
        </p:spPr>
      </p:pic>
      <p:sp>
        <p:nvSpPr>
          <p:cNvPr id="41" name="Shape 19">
            <a:extLst>
              <a:ext uri="{FF2B5EF4-FFF2-40B4-BE49-F238E27FC236}">
                <a16:creationId xmlns:a16="http://schemas.microsoft.com/office/drawing/2014/main" id="{5FF4528A-0AAE-E996-2F20-DE0BF5296B3F}"/>
              </a:ext>
            </a:extLst>
          </p:cNvPr>
          <p:cNvSpPr/>
          <p:nvPr/>
        </p:nvSpPr>
        <p:spPr>
          <a:xfrm>
            <a:off x="8057352" y="3249159"/>
            <a:ext cx="1659128" cy="1120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81CC18A9-79DB-1A45-789B-0F30DCB77DF6}"/>
              </a:ext>
            </a:extLst>
          </p:cNvPr>
          <p:cNvSpPr/>
          <p:nvPr/>
        </p:nvSpPr>
        <p:spPr>
          <a:xfrm>
            <a:off x="7991804" y="3314423"/>
            <a:ext cx="1659128" cy="530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0.98</a:t>
            </a:r>
            <a:endParaRPr lang="en-US" sz="32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A9264FC7-091C-9703-BF46-E0F05975B001}"/>
              </a:ext>
            </a:extLst>
          </p:cNvPr>
          <p:cNvSpPr/>
          <p:nvPr/>
        </p:nvSpPr>
        <p:spPr>
          <a:xfrm>
            <a:off x="8057352" y="3866017"/>
            <a:ext cx="1659128" cy="259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IDP</a:t>
            </a:r>
            <a:endParaRPr lang="en-US" sz="120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7CD72D13-8322-97BB-7BFB-BB3D8D3BE71F}"/>
              </a:ext>
            </a:extLst>
          </p:cNvPr>
          <p:cNvSpPr/>
          <p:nvPr/>
        </p:nvSpPr>
        <p:spPr>
          <a:xfrm>
            <a:off x="6107652" y="3249159"/>
            <a:ext cx="1659128" cy="1120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2CBC3227-1253-2463-672A-3271B46DEFFD}"/>
              </a:ext>
            </a:extLst>
          </p:cNvPr>
          <p:cNvSpPr/>
          <p:nvPr/>
        </p:nvSpPr>
        <p:spPr>
          <a:xfrm>
            <a:off x="6083071" y="3314423"/>
            <a:ext cx="1659128" cy="530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2.08</a:t>
            </a:r>
            <a:endParaRPr lang="en-US" sz="32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E24BD8A6-BADB-E896-BFB4-1955F86B724D}"/>
              </a:ext>
            </a:extLst>
          </p:cNvPr>
          <p:cNvSpPr/>
          <p:nvPr/>
        </p:nvSpPr>
        <p:spPr>
          <a:xfrm>
            <a:off x="6107652" y="3866017"/>
            <a:ext cx="1659128" cy="259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IDC</a:t>
            </a:r>
            <a:endParaRPr lang="en-US" sz="1200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DC6009B-CB4B-CCE5-5D5F-F14FB9744A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8017820"/>
              </p:ext>
            </p:extLst>
          </p:nvPr>
        </p:nvGraphicFramePr>
        <p:xfrm>
          <a:off x="390340" y="4504934"/>
          <a:ext cx="7376440" cy="1828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1" descr="Padrão do plano de fundo">
            <a:extLst>
              <a:ext uri="{FF2B5EF4-FFF2-40B4-BE49-F238E27FC236}">
                <a16:creationId xmlns:a16="http://schemas.microsoft.com/office/drawing/2014/main" id="{282070E5-976C-BFC7-4A85-9691288CA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080"/>
            <a:ext cx="12192000" cy="7648620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43840"/>
            <a:ext cx="609600" cy="609600"/>
          </a:xfrm>
          <a:prstGeom prst="rect">
            <a:avLst/>
          </a:prstGeom>
        </p:spPr>
      </p:pic>
      <p:sp>
        <p:nvSpPr>
          <p:cNvPr id="8" name="CaixaDeTexto 8">
            <a:extLst>
              <a:ext uri="{FF2B5EF4-FFF2-40B4-BE49-F238E27FC236}">
                <a16:creationId xmlns:a16="http://schemas.microsoft.com/office/drawing/2014/main" id="{F67E7E4D-B536-8BC9-FE71-809AFE4270CB}"/>
              </a:ext>
            </a:extLst>
          </p:cNvPr>
          <p:cNvSpPr txBox="1"/>
          <p:nvPr/>
        </p:nvSpPr>
        <p:spPr>
          <a:xfrm>
            <a:off x="1031524" y="306080"/>
            <a:ext cx="6369737" cy="543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Projetos - Clientes - Ativos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847456A0-91D7-EFB9-B289-35806ABD9534}"/>
              </a:ext>
            </a:extLst>
          </p:cNvPr>
          <p:cNvSpPr txBox="1"/>
          <p:nvPr/>
        </p:nvSpPr>
        <p:spPr>
          <a:xfrm>
            <a:off x="10037750" y="6742584"/>
            <a:ext cx="226230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 de horas</a:t>
            </a: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: 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04/09/26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1AF0D0CF-DB2F-3CE7-6740-1830B23AB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282608"/>
              </p:ext>
            </p:extLst>
          </p:nvPr>
        </p:nvGraphicFramePr>
        <p:xfrm>
          <a:off x="790057" y="1766390"/>
          <a:ext cx="10905756" cy="4177214"/>
        </p:xfrm>
        <a:graphic>
          <a:graphicData uri="http://schemas.openxmlformats.org/drawingml/2006/table">
            <a:tbl>
              <a:tblPr/>
              <a:tblGrid>
                <a:gridCol w="281686">
                  <a:extLst>
                    <a:ext uri="{9D8B030D-6E8A-4147-A177-3AD203B41FA5}">
                      <a16:colId xmlns:a16="http://schemas.microsoft.com/office/drawing/2014/main" val="1293449274"/>
                    </a:ext>
                  </a:extLst>
                </a:gridCol>
                <a:gridCol w="1961367">
                  <a:extLst>
                    <a:ext uri="{9D8B030D-6E8A-4147-A177-3AD203B41FA5}">
                      <a16:colId xmlns:a16="http://schemas.microsoft.com/office/drawing/2014/main" val="945635762"/>
                    </a:ext>
                  </a:extLst>
                </a:gridCol>
                <a:gridCol w="1700546">
                  <a:extLst>
                    <a:ext uri="{9D8B030D-6E8A-4147-A177-3AD203B41FA5}">
                      <a16:colId xmlns:a16="http://schemas.microsoft.com/office/drawing/2014/main" val="640306257"/>
                    </a:ext>
                  </a:extLst>
                </a:gridCol>
                <a:gridCol w="740729">
                  <a:extLst>
                    <a:ext uri="{9D8B030D-6E8A-4147-A177-3AD203B41FA5}">
                      <a16:colId xmlns:a16="http://schemas.microsoft.com/office/drawing/2014/main" val="4100783106"/>
                    </a:ext>
                  </a:extLst>
                </a:gridCol>
                <a:gridCol w="740729">
                  <a:extLst>
                    <a:ext uri="{9D8B030D-6E8A-4147-A177-3AD203B41FA5}">
                      <a16:colId xmlns:a16="http://schemas.microsoft.com/office/drawing/2014/main" val="1903581013"/>
                    </a:ext>
                  </a:extLst>
                </a:gridCol>
                <a:gridCol w="740729">
                  <a:extLst>
                    <a:ext uri="{9D8B030D-6E8A-4147-A177-3AD203B41FA5}">
                      <a16:colId xmlns:a16="http://schemas.microsoft.com/office/drawing/2014/main" val="1877739811"/>
                    </a:ext>
                  </a:extLst>
                </a:gridCol>
                <a:gridCol w="740729">
                  <a:extLst>
                    <a:ext uri="{9D8B030D-6E8A-4147-A177-3AD203B41FA5}">
                      <a16:colId xmlns:a16="http://schemas.microsoft.com/office/drawing/2014/main" val="634566524"/>
                    </a:ext>
                  </a:extLst>
                </a:gridCol>
                <a:gridCol w="740729">
                  <a:extLst>
                    <a:ext uri="{9D8B030D-6E8A-4147-A177-3AD203B41FA5}">
                      <a16:colId xmlns:a16="http://schemas.microsoft.com/office/drawing/2014/main" val="718050922"/>
                    </a:ext>
                  </a:extLst>
                </a:gridCol>
                <a:gridCol w="740729">
                  <a:extLst>
                    <a:ext uri="{9D8B030D-6E8A-4147-A177-3AD203B41FA5}">
                      <a16:colId xmlns:a16="http://schemas.microsoft.com/office/drawing/2014/main" val="3251855320"/>
                    </a:ext>
                  </a:extLst>
                </a:gridCol>
                <a:gridCol w="918087">
                  <a:extLst>
                    <a:ext uri="{9D8B030D-6E8A-4147-A177-3AD203B41FA5}">
                      <a16:colId xmlns:a16="http://schemas.microsoft.com/office/drawing/2014/main" val="4185487542"/>
                    </a:ext>
                  </a:extLst>
                </a:gridCol>
                <a:gridCol w="1599696">
                  <a:extLst>
                    <a:ext uri="{9D8B030D-6E8A-4147-A177-3AD203B41FA5}">
                      <a16:colId xmlns:a16="http://schemas.microsoft.com/office/drawing/2014/main" val="605237700"/>
                    </a:ext>
                  </a:extLst>
                </a:gridCol>
              </a:tblGrid>
              <a:tr h="259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BAC(h)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EV%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PV%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Saldo(h)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83631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Unimed Uberaba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T4 - Muito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1374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448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Atenção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380417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Unimed Limeira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T3 - Alto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401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912566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Unimed Parana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T3 - Alto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546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808215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ePharma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111826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Onclick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010017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LeadLovers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2,06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Atenção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190429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Madero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66676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Brazil Atacado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286352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Cadan Distriuidora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Encerramento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41972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SuperVerdeMar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T3 - Alto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2,77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658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Atenção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438900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Vertti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3,76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2965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Ferragens Negrão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T3 - Alto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6,17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2,50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728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Atenção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32053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Unimed Guarapuava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2,04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386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900201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Artelly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005690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Triunfo Logistica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3839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Gob Soluções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57%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2,22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796077"/>
                  </a:ext>
                </a:extLst>
              </a:tr>
              <a:tr h="2304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Vision One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3,65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6A34A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596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F272-DA22-6682-B4F1-FAADC339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1" descr="Padrão do plano de fundo">
            <a:extLst>
              <a:ext uri="{FF2B5EF4-FFF2-40B4-BE49-F238E27FC236}">
                <a16:creationId xmlns:a16="http://schemas.microsoft.com/office/drawing/2014/main" id="{F05DC81F-60B4-E81D-0726-EB19F9696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48620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3618204-2096-D7A6-97F4-DEEF9852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43840"/>
            <a:ext cx="609600" cy="609600"/>
          </a:xfrm>
          <a:prstGeom prst="rect">
            <a:avLst/>
          </a:prstGeom>
        </p:spPr>
      </p:pic>
      <p:sp>
        <p:nvSpPr>
          <p:cNvPr id="8" name="CaixaDeTexto 8">
            <a:extLst>
              <a:ext uri="{FF2B5EF4-FFF2-40B4-BE49-F238E27FC236}">
                <a16:creationId xmlns:a16="http://schemas.microsoft.com/office/drawing/2014/main" id="{7B23BDCD-9F57-C269-013C-8D149031B240}"/>
              </a:ext>
            </a:extLst>
          </p:cNvPr>
          <p:cNvSpPr txBox="1"/>
          <p:nvPr/>
        </p:nvSpPr>
        <p:spPr>
          <a:xfrm>
            <a:off x="1031524" y="306080"/>
            <a:ext cx="7176561" cy="543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33" b="1"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Projetos - Corporativo - Ativos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5DAFB7F-43EC-DF0E-9EA9-117AD06355E6}"/>
              </a:ext>
            </a:extLst>
          </p:cNvPr>
          <p:cNvSpPr txBox="1"/>
          <p:nvPr/>
        </p:nvSpPr>
        <p:spPr>
          <a:xfrm>
            <a:off x="10037750" y="6742584"/>
            <a:ext cx="226230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 de horas</a:t>
            </a: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: 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21/08/26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E45BD33-BD8D-D1AD-96D3-FDD90CEE5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336328"/>
              </p:ext>
            </p:extLst>
          </p:nvPr>
        </p:nvGraphicFramePr>
        <p:xfrm>
          <a:off x="758159" y="1729027"/>
          <a:ext cx="9931401" cy="419100"/>
        </p:xfrm>
        <a:graphic>
          <a:graphicData uri="http://schemas.openxmlformats.org/drawingml/2006/table">
            <a:tbl>
              <a:tblPr/>
              <a:tblGrid>
                <a:gridCol w="256519">
                  <a:extLst>
                    <a:ext uri="{9D8B030D-6E8A-4147-A177-3AD203B41FA5}">
                      <a16:colId xmlns:a16="http://schemas.microsoft.com/office/drawing/2014/main" val="1585626148"/>
                    </a:ext>
                  </a:extLst>
                </a:gridCol>
                <a:gridCol w="1786132">
                  <a:extLst>
                    <a:ext uri="{9D8B030D-6E8A-4147-A177-3AD203B41FA5}">
                      <a16:colId xmlns:a16="http://schemas.microsoft.com/office/drawing/2014/main" val="1113495652"/>
                    </a:ext>
                  </a:extLst>
                </a:gridCol>
                <a:gridCol w="1548614">
                  <a:extLst>
                    <a:ext uri="{9D8B030D-6E8A-4147-A177-3AD203B41FA5}">
                      <a16:colId xmlns:a16="http://schemas.microsoft.com/office/drawing/2014/main" val="580418915"/>
                    </a:ext>
                  </a:extLst>
                </a:gridCol>
                <a:gridCol w="674550">
                  <a:extLst>
                    <a:ext uri="{9D8B030D-6E8A-4147-A177-3AD203B41FA5}">
                      <a16:colId xmlns:a16="http://schemas.microsoft.com/office/drawing/2014/main" val="2001630000"/>
                    </a:ext>
                  </a:extLst>
                </a:gridCol>
                <a:gridCol w="674550">
                  <a:extLst>
                    <a:ext uri="{9D8B030D-6E8A-4147-A177-3AD203B41FA5}">
                      <a16:colId xmlns:a16="http://schemas.microsoft.com/office/drawing/2014/main" val="2641514987"/>
                    </a:ext>
                  </a:extLst>
                </a:gridCol>
                <a:gridCol w="674550">
                  <a:extLst>
                    <a:ext uri="{9D8B030D-6E8A-4147-A177-3AD203B41FA5}">
                      <a16:colId xmlns:a16="http://schemas.microsoft.com/office/drawing/2014/main" val="3331767409"/>
                    </a:ext>
                  </a:extLst>
                </a:gridCol>
                <a:gridCol w="674550">
                  <a:extLst>
                    <a:ext uri="{9D8B030D-6E8A-4147-A177-3AD203B41FA5}">
                      <a16:colId xmlns:a16="http://schemas.microsoft.com/office/drawing/2014/main" val="1693699151"/>
                    </a:ext>
                  </a:extLst>
                </a:gridCol>
                <a:gridCol w="674550">
                  <a:extLst>
                    <a:ext uri="{9D8B030D-6E8A-4147-A177-3AD203B41FA5}">
                      <a16:colId xmlns:a16="http://schemas.microsoft.com/office/drawing/2014/main" val="3337075346"/>
                    </a:ext>
                  </a:extLst>
                </a:gridCol>
                <a:gridCol w="674550">
                  <a:extLst>
                    <a:ext uri="{9D8B030D-6E8A-4147-A177-3AD203B41FA5}">
                      <a16:colId xmlns:a16="http://schemas.microsoft.com/office/drawing/2014/main" val="2509809182"/>
                    </a:ext>
                  </a:extLst>
                </a:gridCol>
                <a:gridCol w="836062">
                  <a:extLst>
                    <a:ext uri="{9D8B030D-6E8A-4147-A177-3AD203B41FA5}">
                      <a16:colId xmlns:a16="http://schemas.microsoft.com/office/drawing/2014/main" val="1971468186"/>
                    </a:ext>
                  </a:extLst>
                </a:gridCol>
                <a:gridCol w="1456774">
                  <a:extLst>
                    <a:ext uri="{9D8B030D-6E8A-4147-A177-3AD203B41FA5}">
                      <a16:colId xmlns:a16="http://schemas.microsoft.com/office/drawing/2014/main" val="1330727804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BAC(h)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EV%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PV%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Saldo(h)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6328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Nova Tenancy</a:t>
                      </a:r>
                      <a:endParaRPr lang="pt-BR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0,54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0,68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7,48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0,79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52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89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5C1EE-28E3-C69F-F22F-1C1A0ED9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1" descr="Padrão do plano de fundo">
            <a:extLst>
              <a:ext uri="{FF2B5EF4-FFF2-40B4-BE49-F238E27FC236}">
                <a16:creationId xmlns:a16="http://schemas.microsoft.com/office/drawing/2014/main" id="{81A0DF7E-5323-D2F2-37DE-199F8682A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48620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E6E2117-3EDC-D509-DC56-C731498A1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43840"/>
            <a:ext cx="609600" cy="609600"/>
          </a:xfrm>
          <a:prstGeom prst="rect">
            <a:avLst/>
          </a:prstGeom>
        </p:spPr>
      </p:pic>
      <p:sp>
        <p:nvSpPr>
          <p:cNvPr id="8" name="CaixaDeTexto 8">
            <a:extLst>
              <a:ext uri="{FF2B5EF4-FFF2-40B4-BE49-F238E27FC236}">
                <a16:creationId xmlns:a16="http://schemas.microsoft.com/office/drawing/2014/main" id="{DD509D18-F987-390F-2762-FE1A07FB78A1}"/>
              </a:ext>
            </a:extLst>
          </p:cNvPr>
          <p:cNvSpPr txBox="1"/>
          <p:nvPr/>
        </p:nvSpPr>
        <p:spPr>
          <a:xfrm>
            <a:off x="1031524" y="306080"/>
            <a:ext cx="5521675" cy="543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33" b="1"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Projetos - Encerrados</a:t>
            </a:r>
          </a:p>
        </p:txBody>
      </p:sp>
      <p:sp>
        <p:nvSpPr>
          <p:cNvPr id="5" name="CaixaDeTexto 14">
            <a:extLst>
              <a:ext uri="{FF2B5EF4-FFF2-40B4-BE49-F238E27FC236}">
                <a16:creationId xmlns:a16="http://schemas.microsoft.com/office/drawing/2014/main" id="{0D4D2031-7728-5FE6-F6DF-FC238F45B0B0}"/>
              </a:ext>
            </a:extLst>
          </p:cNvPr>
          <p:cNvSpPr txBox="1"/>
          <p:nvPr/>
        </p:nvSpPr>
        <p:spPr>
          <a:xfrm>
            <a:off x="10037750" y="6742584"/>
            <a:ext cx="226230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 de horas</a:t>
            </a: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: 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04/09/26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854882-C83C-0684-A24C-E7DC1C744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634244"/>
              </p:ext>
            </p:extLst>
          </p:nvPr>
        </p:nvGraphicFramePr>
        <p:xfrm>
          <a:off x="9501360" y="4886018"/>
          <a:ext cx="2290378" cy="16078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5615">
                  <a:extLst>
                    <a:ext uri="{9D8B030D-6E8A-4147-A177-3AD203B41FA5}">
                      <a16:colId xmlns:a16="http://schemas.microsoft.com/office/drawing/2014/main" val="511844183"/>
                    </a:ext>
                  </a:extLst>
                </a:gridCol>
                <a:gridCol w="1774763">
                  <a:extLst>
                    <a:ext uri="{9D8B030D-6E8A-4147-A177-3AD203B41FA5}">
                      <a16:colId xmlns:a16="http://schemas.microsoft.com/office/drawing/2014/main" val="2702061953"/>
                    </a:ext>
                  </a:extLst>
                </a:gridCol>
              </a:tblGrid>
              <a:tr h="30039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err="1"/>
                        <a:t>Requisitos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83335"/>
                  </a:ext>
                </a:extLst>
              </a:tr>
              <a:tr h="300394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err="1"/>
                        <a:t>Baixo</a:t>
                      </a:r>
                      <a:r>
                        <a:rPr lang="en-US" sz="800"/>
                        <a:t> </a:t>
                      </a:r>
                      <a:r>
                        <a:rPr lang="en-US" sz="800" err="1"/>
                        <a:t>esforço</a:t>
                      </a:r>
                      <a:r>
                        <a:rPr lang="en-US" sz="800"/>
                        <a:t> (</a:t>
                      </a:r>
                      <a:r>
                        <a:rPr lang="en-US" sz="800" err="1"/>
                        <a:t>até</a:t>
                      </a:r>
                      <a:r>
                        <a:rPr lang="en-US" sz="800"/>
                        <a:t> 100h)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098503"/>
                  </a:ext>
                </a:extLst>
              </a:tr>
              <a:tr h="300394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/>
                        <a:t>Médio esforço (101h a 500h)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406964"/>
                  </a:ext>
                </a:extLst>
              </a:tr>
              <a:tr h="300394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/>
                        <a:t>Alto esforço (501h a 1000h)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8519"/>
                  </a:ext>
                </a:extLst>
              </a:tr>
              <a:tr h="406243">
                <a:tc>
                  <a:txBody>
                    <a:bodyPr/>
                    <a:lstStyle/>
                    <a:p>
                      <a:pPr algn="l"/>
                      <a:r>
                        <a:rPr lang="en-US" sz="8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/>
                        <a:t>Muito alto esforço (acima de 1000h)</a:t>
                      </a:r>
                      <a:endParaRPr 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843270"/>
                  </a:ext>
                </a:extLst>
              </a:tr>
            </a:tbl>
          </a:graphicData>
        </a:graphic>
      </p:graphicFrame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F9D9106-CE66-11CD-04F5-75D398CCD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518800"/>
              </p:ext>
            </p:extLst>
          </p:nvPr>
        </p:nvGraphicFramePr>
        <p:xfrm>
          <a:off x="609600" y="1337627"/>
          <a:ext cx="11182137" cy="3299639"/>
        </p:xfrm>
        <a:graphic>
          <a:graphicData uri="http://schemas.openxmlformats.org/drawingml/2006/table">
            <a:tbl>
              <a:tblPr/>
              <a:tblGrid>
                <a:gridCol w="288824">
                  <a:extLst>
                    <a:ext uri="{9D8B030D-6E8A-4147-A177-3AD203B41FA5}">
                      <a16:colId xmlns:a16="http://schemas.microsoft.com/office/drawing/2014/main" val="1922936268"/>
                    </a:ext>
                  </a:extLst>
                </a:gridCol>
                <a:gridCol w="2011073">
                  <a:extLst>
                    <a:ext uri="{9D8B030D-6E8A-4147-A177-3AD203B41FA5}">
                      <a16:colId xmlns:a16="http://schemas.microsoft.com/office/drawing/2014/main" val="1579610494"/>
                    </a:ext>
                  </a:extLst>
                </a:gridCol>
                <a:gridCol w="1743643">
                  <a:extLst>
                    <a:ext uri="{9D8B030D-6E8A-4147-A177-3AD203B41FA5}">
                      <a16:colId xmlns:a16="http://schemas.microsoft.com/office/drawing/2014/main" val="2076576467"/>
                    </a:ext>
                  </a:extLst>
                </a:gridCol>
                <a:gridCol w="759501">
                  <a:extLst>
                    <a:ext uri="{9D8B030D-6E8A-4147-A177-3AD203B41FA5}">
                      <a16:colId xmlns:a16="http://schemas.microsoft.com/office/drawing/2014/main" val="1821787612"/>
                    </a:ext>
                  </a:extLst>
                </a:gridCol>
                <a:gridCol w="759501">
                  <a:extLst>
                    <a:ext uri="{9D8B030D-6E8A-4147-A177-3AD203B41FA5}">
                      <a16:colId xmlns:a16="http://schemas.microsoft.com/office/drawing/2014/main" val="3786339742"/>
                    </a:ext>
                  </a:extLst>
                </a:gridCol>
                <a:gridCol w="759501">
                  <a:extLst>
                    <a:ext uri="{9D8B030D-6E8A-4147-A177-3AD203B41FA5}">
                      <a16:colId xmlns:a16="http://schemas.microsoft.com/office/drawing/2014/main" val="1761484538"/>
                    </a:ext>
                  </a:extLst>
                </a:gridCol>
                <a:gridCol w="759501">
                  <a:extLst>
                    <a:ext uri="{9D8B030D-6E8A-4147-A177-3AD203B41FA5}">
                      <a16:colId xmlns:a16="http://schemas.microsoft.com/office/drawing/2014/main" val="688763463"/>
                    </a:ext>
                  </a:extLst>
                </a:gridCol>
                <a:gridCol w="759501">
                  <a:extLst>
                    <a:ext uri="{9D8B030D-6E8A-4147-A177-3AD203B41FA5}">
                      <a16:colId xmlns:a16="http://schemas.microsoft.com/office/drawing/2014/main" val="2935485237"/>
                    </a:ext>
                  </a:extLst>
                </a:gridCol>
                <a:gridCol w="759501">
                  <a:extLst>
                    <a:ext uri="{9D8B030D-6E8A-4147-A177-3AD203B41FA5}">
                      <a16:colId xmlns:a16="http://schemas.microsoft.com/office/drawing/2014/main" val="2833333288"/>
                    </a:ext>
                  </a:extLst>
                </a:gridCol>
                <a:gridCol w="941354">
                  <a:extLst>
                    <a:ext uri="{9D8B030D-6E8A-4147-A177-3AD203B41FA5}">
                      <a16:colId xmlns:a16="http://schemas.microsoft.com/office/drawing/2014/main" val="3514869446"/>
                    </a:ext>
                  </a:extLst>
                </a:gridCol>
                <a:gridCol w="1640237">
                  <a:extLst>
                    <a:ext uri="{9D8B030D-6E8A-4147-A177-3AD203B41FA5}">
                      <a16:colId xmlns:a16="http://schemas.microsoft.com/office/drawing/2014/main" val="830467271"/>
                    </a:ext>
                  </a:extLst>
                </a:gridCol>
              </a:tblGrid>
              <a:tr h="2182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BAC(h)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EV%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PV%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Saldo(h)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292645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SalonLine/Devintex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79646"/>
                          </a:solidFill>
                          <a:effectLst/>
                          <a:latin typeface="Calibri" panose="020F0502020204030204" pitchFamily="34" charset="0"/>
                        </a:rPr>
                        <a:t>Atenção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59118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Naturgy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T4 - Muito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23869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Andrade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1016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Passarela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002640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PROESC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5,85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62213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LPCC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856100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Bom Jesus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890918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HI-MIX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55016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Daher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526326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Koch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887119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RIOPAE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T2 - Médio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560995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Koncili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1,49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74321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Effecti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T3 - Alto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2,19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0758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Unimed Mercosul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5,11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21363"/>
                  </a:ext>
                </a:extLst>
              </a:tr>
              <a:tr h="2054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Unimed Cascavel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50" b="0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T1 - Baixo Esforço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2,06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0,94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Saudável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939458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8A1B7C7-EBC6-AF25-9A73-170787BD5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79583"/>
              </p:ext>
            </p:extLst>
          </p:nvPr>
        </p:nvGraphicFramePr>
        <p:xfrm>
          <a:off x="914398" y="5121453"/>
          <a:ext cx="5380075" cy="406400"/>
        </p:xfrm>
        <a:graphic>
          <a:graphicData uri="http://schemas.openxmlformats.org/drawingml/2006/table">
            <a:tbl>
              <a:tblPr/>
              <a:tblGrid>
                <a:gridCol w="1453766">
                  <a:extLst>
                    <a:ext uri="{9D8B030D-6E8A-4147-A177-3AD203B41FA5}">
                      <a16:colId xmlns:a16="http://schemas.microsoft.com/office/drawing/2014/main" val="1106535133"/>
                    </a:ext>
                  </a:extLst>
                </a:gridCol>
                <a:gridCol w="1257019">
                  <a:extLst>
                    <a:ext uri="{9D8B030D-6E8A-4147-A177-3AD203B41FA5}">
                      <a16:colId xmlns:a16="http://schemas.microsoft.com/office/drawing/2014/main" val="3734769764"/>
                    </a:ext>
                  </a:extLst>
                </a:gridCol>
                <a:gridCol w="688965">
                  <a:extLst>
                    <a:ext uri="{9D8B030D-6E8A-4147-A177-3AD203B41FA5}">
                      <a16:colId xmlns:a16="http://schemas.microsoft.com/office/drawing/2014/main" val="2364197906"/>
                    </a:ext>
                  </a:extLst>
                </a:gridCol>
                <a:gridCol w="1980325">
                  <a:extLst>
                    <a:ext uri="{9D8B030D-6E8A-4147-A177-3AD203B41FA5}">
                      <a16:colId xmlns:a16="http://schemas.microsoft.com/office/drawing/2014/main" val="340965716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Horas Contratadas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Horas Consumidas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Utilizado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8836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4706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3115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1592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1E2761"/>
                          </a:solidFill>
                          <a:effectLst/>
                          <a:latin typeface="Calibri" panose="020F0502020204030204" pitchFamily="34" charset="0"/>
                        </a:rPr>
                        <a:t>66%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040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14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ECAF-071F-39C1-268B-45DC7778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C2A7A6D7-338D-CDF5-D85B-A0902B3D2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26">
            <a:extLst>
              <a:ext uri="{FF2B5EF4-FFF2-40B4-BE49-F238E27FC236}">
                <a16:creationId xmlns:a16="http://schemas.microsoft.com/office/drawing/2014/main" id="{18F99308-D027-422F-7521-15FA1E734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788907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07B140DB-0DF3-A461-8A95-B62796DF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902D3A5B-F23A-D4DD-0B05-46A2D9038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23752A68-BFCC-2AE8-A3DC-7A08CA1D1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93" y="604376"/>
            <a:ext cx="989183" cy="580687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F29A3B7E-D04F-7270-4D2A-A0CC81426656}"/>
              </a:ext>
            </a:extLst>
          </p:cNvPr>
          <p:cNvCxnSpPr>
            <a:cxnSpLocks/>
          </p:cNvCxnSpPr>
          <p:nvPr/>
        </p:nvCxnSpPr>
        <p:spPr>
          <a:xfrm flipV="1">
            <a:off x="452498" y="767207"/>
            <a:ext cx="0" cy="2811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E638BAA8-A629-53F1-01C7-1A49B9E0521A}"/>
              </a:ext>
            </a:extLst>
          </p:cNvPr>
          <p:cNvSpPr txBox="1"/>
          <p:nvPr/>
        </p:nvSpPr>
        <p:spPr>
          <a:xfrm>
            <a:off x="20624" y="345887"/>
            <a:ext cx="84591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>
                <a:latin typeface="Verdana"/>
                <a:ea typeface="Verdana"/>
                <a:cs typeface="Arial"/>
              </a:rPr>
              <a:t>Resumo: </a:t>
            </a:r>
            <a:r>
              <a:rPr lang="pt-BR" sz="900">
                <a:latin typeface="Verdana"/>
                <a:ea typeface="Verdana"/>
                <a:cs typeface="Arial"/>
              </a:rPr>
              <a:t>Implantação de ambiente Oracle Cloud (OCI) com </a:t>
            </a:r>
            <a:r>
              <a:rPr lang="pt-BR" sz="900" err="1">
                <a:latin typeface="Verdana"/>
                <a:ea typeface="Verdana"/>
                <a:cs typeface="Arial"/>
              </a:rPr>
              <a:t>Exadata</a:t>
            </a:r>
            <a:r>
              <a:rPr lang="pt-BR" sz="900">
                <a:latin typeface="Verdana"/>
                <a:ea typeface="Verdana"/>
                <a:cs typeface="Arial"/>
              </a:rPr>
              <a:t> e migração dos bancos de dados, visando modernização e alta disponibilidade. 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39D96B28-147C-EDEF-E9EC-348D9DD63E21}"/>
              </a:ext>
            </a:extLst>
          </p:cNvPr>
          <p:cNvSpPr txBox="1"/>
          <p:nvPr/>
        </p:nvSpPr>
        <p:spPr>
          <a:xfrm>
            <a:off x="20625" y="4923"/>
            <a:ext cx="726681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>
                <a:latin typeface="Verdana"/>
                <a:ea typeface="Verdana"/>
                <a:cs typeface="Arial"/>
              </a:rPr>
              <a:t>Unimed Uberaba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8AD30FD-537F-2AB3-BD74-4C150CF14EAD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17A7ADD-CC80-8294-F431-ECE3291FD7B1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F8F583F-9751-BAB9-B379-DF8E117AE4CB}"/>
              </a:ext>
            </a:extLst>
          </p:cNvPr>
          <p:cNvSpPr txBox="1"/>
          <p:nvPr/>
        </p:nvSpPr>
        <p:spPr>
          <a:xfrm>
            <a:off x="538649" y="1583879"/>
            <a:ext cx="1727317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CB193B89-AA52-7EFA-261D-2572F15D86BB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407A0B2-38ED-977D-9F2E-ABDA310B3D95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3780BDC-0BD0-452A-7882-2D18C61F2E4C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70%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E072793-1908-0700-A348-0BDCC29B92B7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F10EADA-0D7A-DBCA-85B5-B3C8DAA808E3}"/>
              </a:ext>
            </a:extLst>
          </p:cNvPr>
          <p:cNvSpPr txBox="1"/>
          <p:nvPr/>
        </p:nvSpPr>
        <p:spPr>
          <a:xfrm>
            <a:off x="4215886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BF68D371-E387-8897-4534-284879570C05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83%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7B1FB784-D626-1B47-7B1B-973A013A1457}"/>
              </a:ext>
            </a:extLst>
          </p:cNvPr>
          <p:cNvSpPr/>
          <p:nvPr/>
        </p:nvSpPr>
        <p:spPr>
          <a:xfrm>
            <a:off x="2113946" y="64088"/>
            <a:ext cx="1254157" cy="279400"/>
          </a:xfrm>
          <a:prstGeom prst="roundRect">
            <a:avLst>
              <a:gd name="adj" fmla="val 16527273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AF06C22D-605E-87B6-7604-50DBDEE29114}"/>
              </a:ext>
            </a:extLst>
          </p:cNvPr>
          <p:cNvSpPr txBox="1"/>
          <p:nvPr/>
        </p:nvSpPr>
        <p:spPr>
          <a:xfrm>
            <a:off x="2373982" y="89614"/>
            <a:ext cx="100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Atenção</a:t>
            </a:r>
            <a:endParaRPr lang="en-US" sz="1496"/>
          </a:p>
        </p:txBody>
      </p:sp>
      <p:graphicFrame>
        <p:nvGraphicFramePr>
          <p:cNvPr id="5" name="Tabela 33">
            <a:extLst>
              <a:ext uri="{FF2B5EF4-FFF2-40B4-BE49-F238E27FC236}">
                <a16:creationId xmlns:a16="http://schemas.microsoft.com/office/drawing/2014/main" id="{0F3AC969-9F10-D4DA-FE10-0BB46A347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875459"/>
              </p:ext>
            </p:extLst>
          </p:nvPr>
        </p:nvGraphicFramePr>
        <p:xfrm>
          <a:off x="6761678" y="1159185"/>
          <a:ext cx="5207816" cy="23989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4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344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56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225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 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225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225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225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225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225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CaixaDeTexto 26">
            <a:extLst>
              <a:ext uri="{FF2B5EF4-FFF2-40B4-BE49-F238E27FC236}">
                <a16:creationId xmlns:a16="http://schemas.microsoft.com/office/drawing/2014/main" id="{3523420B-DB20-3874-64C7-FF8ADD975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249" y="3568929"/>
            <a:ext cx="2696379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graphicFrame>
        <p:nvGraphicFramePr>
          <p:cNvPr id="4" name="Tabela 23">
            <a:extLst>
              <a:ext uri="{FF2B5EF4-FFF2-40B4-BE49-F238E27FC236}">
                <a16:creationId xmlns:a16="http://schemas.microsoft.com/office/drawing/2014/main" id="{3E01639C-C387-649C-4066-EBA468FD3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145668"/>
              </p:ext>
            </p:extLst>
          </p:nvPr>
        </p:nvGraphicFramePr>
        <p:xfrm>
          <a:off x="6706472" y="3791981"/>
          <a:ext cx="5346076" cy="5794950"/>
        </p:xfrm>
        <a:graphic>
          <a:graphicData uri="http://schemas.openxmlformats.org/drawingml/2006/table">
            <a:tbl>
              <a:tblPr/>
              <a:tblGrid>
                <a:gridCol w="5346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419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Homologação: 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Dar seguimento as atividades e testes dos sistemas MV,PLS, SGU, SHIFT e SERVIDORES DE INOVAÇÃO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SERVIDORES DE INOVAÇÃO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Atividades </a:t>
                      </a:r>
                      <a:r>
                        <a:rPr lang="pt-BR" sz="900" b="1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Pré</a:t>
                      </a: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-Migração: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Realizar atividades de configuração, testes e homologação para migração;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Migração Front </a:t>
                      </a:r>
                      <a:r>
                        <a:rPr lang="pt-BR" sz="900" b="1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End</a:t>
                      </a: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Prevista para iniciar dia 04/09 a partir das 18h;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Migração Front Back-</a:t>
                      </a:r>
                      <a:r>
                        <a:rPr lang="pt-BR" sz="900" b="1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End</a:t>
                      </a: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+ Banco de dados: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Prevista para iniciar dia 11/09, horário a definir;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SHIFT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Atividades </a:t>
                      </a:r>
                      <a:r>
                        <a:rPr lang="pt-BR" sz="900" b="1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Pré</a:t>
                      </a: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-Migração: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Realizar atividades de configuração, testes e homologação para migração;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Prevista para iniciar dia 09/09 a partir das 00h00;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4190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278458"/>
                  </a:ext>
                </a:extLst>
              </a:tr>
            </a:tbl>
          </a:graphicData>
        </a:graphic>
      </p:graphicFrame>
      <p:pic>
        <p:nvPicPr>
          <p:cNvPr id="6" name="Gráfico 11" descr="Setas de Divisão com preenchimento sólido">
            <a:extLst>
              <a:ext uri="{FF2B5EF4-FFF2-40B4-BE49-F238E27FC236}">
                <a16:creationId xmlns:a16="http://schemas.microsoft.com/office/drawing/2014/main" id="{E43DA11D-ADC6-6EAB-947D-89235EA9E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5839" y="3571681"/>
            <a:ext cx="252000" cy="252000"/>
          </a:xfrm>
          <a:prstGeom prst="rect">
            <a:avLst/>
          </a:prstGeom>
        </p:spPr>
      </p:pic>
      <p:sp>
        <p:nvSpPr>
          <p:cNvPr id="9" name="CaixaDeTexto 26">
            <a:extLst>
              <a:ext uri="{FF2B5EF4-FFF2-40B4-BE49-F238E27FC236}">
                <a16:creationId xmlns:a16="http://schemas.microsoft.com/office/drawing/2014/main" id="{E9D8D9D8-D667-437E-0787-C07EF96E3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96" y="2848240"/>
            <a:ext cx="4086601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12" name="Tabela 38">
            <a:extLst>
              <a:ext uri="{FF2B5EF4-FFF2-40B4-BE49-F238E27FC236}">
                <a16:creationId xmlns:a16="http://schemas.microsoft.com/office/drawing/2014/main" id="{2213889D-3D17-452A-7A04-8759BF526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893268"/>
              </p:ext>
            </p:extLst>
          </p:nvPr>
        </p:nvGraphicFramePr>
        <p:xfrm>
          <a:off x="196896" y="4400714"/>
          <a:ext cx="6181082" cy="29565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181082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7242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Sênior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Plano de 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Revisado em </a:t>
                      </a:r>
                      <a:r>
                        <a:rPr lang="pt-BR" sz="9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call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com o cliente antes do inicio da migração.</a:t>
                      </a:r>
                    </a:p>
                    <a:p>
                      <a:pPr marL="91440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Realizada no dia 28/08 a partir das 14h;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Interact</a:t>
                      </a:r>
                    </a:p>
                    <a:p>
                      <a:pPr marL="91440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Atividades </a:t>
                      </a:r>
                      <a:r>
                        <a:rPr lang="pt-BR" sz="900" b="1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Pré</a:t>
                      </a: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-Migração: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Realizadas todas as atividades para realizar a migração no dia 27/08 a partir das 11.</a:t>
                      </a:r>
                      <a:endParaRPr lang="pt-BR" sz="9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91440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Plano de 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Revisado e encaminhado com as atividades.</a:t>
                      </a:r>
                    </a:p>
                    <a:p>
                      <a:pPr marL="91440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Migração: 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Iniciada no dia 27/08 as 11h e finalizada dia 28/08 as 09h .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8431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sp>
        <p:nvSpPr>
          <p:cNvPr id="19" name="CaixaDeTexto 26">
            <a:extLst>
              <a:ext uri="{FF2B5EF4-FFF2-40B4-BE49-F238E27FC236}">
                <a16:creationId xmlns:a16="http://schemas.microsoft.com/office/drawing/2014/main" id="{5602DA95-949C-2852-F4FF-3363633A0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14" y="4057974"/>
            <a:ext cx="6368441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 dirty="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24" name="Tabela 40">
            <a:extLst>
              <a:ext uri="{FF2B5EF4-FFF2-40B4-BE49-F238E27FC236}">
                <a16:creationId xmlns:a16="http://schemas.microsoft.com/office/drawing/2014/main" id="{D12E726D-27DC-BAA4-439B-FF5F0969F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989778"/>
              </p:ext>
            </p:extLst>
          </p:nvPr>
        </p:nvGraphicFramePr>
        <p:xfrm>
          <a:off x="479659" y="3073868"/>
          <a:ext cx="5747154" cy="845251"/>
        </p:xfrm>
        <a:graphic>
          <a:graphicData uri="http://schemas.openxmlformats.org/drawingml/2006/table">
            <a:tbl>
              <a:tblPr/>
              <a:tblGrid>
                <a:gridCol w="5747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4525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</a:t>
                      </a: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7" name="Gráfico 59" descr="Aviso com preenchimento sólido">
            <a:extLst>
              <a:ext uri="{FF2B5EF4-FFF2-40B4-BE49-F238E27FC236}">
                <a16:creationId xmlns:a16="http://schemas.microsoft.com/office/drawing/2014/main" id="{F76CCA30-7C4C-71D5-6960-C790A67A6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896" y="2820434"/>
            <a:ext cx="216000" cy="240327"/>
          </a:xfrm>
          <a:prstGeom prst="rect">
            <a:avLst/>
          </a:prstGeom>
        </p:spPr>
      </p:pic>
      <p:pic>
        <p:nvPicPr>
          <p:cNvPr id="29" name="Graphic 28" descr="Checkbox Checked with solid fill">
            <a:extLst>
              <a:ext uri="{FF2B5EF4-FFF2-40B4-BE49-F238E27FC236}">
                <a16:creationId xmlns:a16="http://schemas.microsoft.com/office/drawing/2014/main" id="{37DD1120-DA8C-81BB-F186-7EF8D819BA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451" y="4015638"/>
            <a:ext cx="336884" cy="336884"/>
          </a:xfrm>
          <a:prstGeom prst="rect">
            <a:avLst/>
          </a:prstGeom>
        </p:spPr>
      </p:pic>
      <p:sp>
        <p:nvSpPr>
          <p:cNvPr id="31" name="CaixaDeTexto 14">
            <a:extLst>
              <a:ext uri="{FF2B5EF4-FFF2-40B4-BE49-F238E27FC236}">
                <a16:creationId xmlns:a16="http://schemas.microsoft.com/office/drawing/2014/main" id="{A08F8B08-2C4F-9038-C5B9-F84CF6CC2080}"/>
              </a:ext>
            </a:extLst>
          </p:cNvPr>
          <p:cNvSpPr txBox="1"/>
          <p:nvPr/>
        </p:nvSpPr>
        <p:spPr>
          <a:xfrm>
            <a:off x="10736345" y="6676861"/>
            <a:ext cx="1709857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04/09/26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512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A7A3D-4D56-95CB-9483-170B00B0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368464B5-DF51-1325-3AEB-153517096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4088"/>
            <a:ext cx="12192000" cy="6922088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CD96265E-50CA-411A-2839-30E6B3C3F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125" y="3684807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D3F8E241-BD67-781F-3A42-3DC25CD19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810" y="3923014"/>
            <a:ext cx="5354760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5E0F13E8-6D7A-FB76-B248-CBD9D9B98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FA1380F6-2977-CB55-1EDF-787C79484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C3660F2D-9ECD-8130-08E1-76D50857C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80071"/>
              </p:ext>
            </p:extLst>
          </p:nvPr>
        </p:nvGraphicFramePr>
        <p:xfrm>
          <a:off x="118564" y="5507828"/>
          <a:ext cx="6181082" cy="120623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181082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977634">
                <a:tc>
                  <a:txBody>
                    <a:bodyPr/>
                    <a:lstStyle/>
                    <a:p>
                      <a:pPr marL="457200" marR="0" lvl="0" indent="-1714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</a:t>
                      </a: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914400" marR="0" lvl="1" indent="-171450"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0654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D37C006B-4F00-964E-2A21-9D2F156B3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707114"/>
              </p:ext>
            </p:extLst>
          </p:nvPr>
        </p:nvGraphicFramePr>
        <p:xfrm>
          <a:off x="6700862" y="4216325"/>
          <a:ext cx="5461403" cy="4821686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1084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Solus</a:t>
                      </a:r>
                      <a:r>
                        <a:rPr lang="pt-B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web e App em homologação: </a:t>
                      </a:r>
                    </a:p>
                    <a:p>
                      <a:pPr marL="91440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Servidor de API com problemas. Em análise pelo time da </a:t>
                      </a:r>
                      <a:r>
                        <a:rPr lang="pt-B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Solus</a:t>
                      </a:r>
                      <a:r>
                        <a:rPr lang="pt-B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91440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Servidor Web: Será disponibilizado pelo </a:t>
                      </a:r>
                      <a:r>
                        <a:rPr lang="pt-B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Clauder</a:t>
                      </a:r>
                      <a:r>
                        <a:rPr lang="pt-B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acesso à máquina que que foi criada OCI ao time da </a:t>
                      </a:r>
                      <a:r>
                        <a:rPr lang="pt-B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Solus</a:t>
                      </a:r>
                      <a:r>
                        <a:rPr lang="pt-B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na próxima semana para os mesmos realizarem as configurações e ajustes necessários para migrar</a:t>
                      </a:r>
                    </a:p>
                    <a:p>
                      <a:pPr marL="91440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0843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454371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9772C429-F937-32D7-2B00-5F227B980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44" y="5212010"/>
            <a:ext cx="6368441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2B5ED4F2-5FBF-ABF5-B0E4-5E1B16ED1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071816"/>
              </p:ext>
            </p:extLst>
          </p:nvPr>
        </p:nvGraphicFramePr>
        <p:xfrm>
          <a:off x="118564" y="3980721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</a:pPr>
                      <a:r>
                        <a:rPr lang="pt-BR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C3CDE502-1EAA-DA0D-4712-4EBF17A95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8EA2373B-9E8C-537E-DE46-A0C875A3B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93" y="604376"/>
            <a:ext cx="989183" cy="580687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9C55D4A8-7C76-5A0E-F7AA-0586628A82A3}"/>
              </a:ext>
            </a:extLst>
          </p:cNvPr>
          <p:cNvCxnSpPr>
            <a:cxnSpLocks/>
          </p:cNvCxnSpPr>
          <p:nvPr/>
        </p:nvCxnSpPr>
        <p:spPr>
          <a:xfrm flipH="1" flipV="1">
            <a:off x="231244" y="853204"/>
            <a:ext cx="221254" cy="1951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F71949F4-10F7-21FC-0B47-AB94B90BF932}"/>
              </a:ext>
            </a:extLst>
          </p:cNvPr>
          <p:cNvSpPr txBox="1"/>
          <p:nvPr/>
        </p:nvSpPr>
        <p:spPr>
          <a:xfrm>
            <a:off x="20624" y="345887"/>
            <a:ext cx="84591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 dirty="0">
                <a:latin typeface="Verdana"/>
                <a:ea typeface="Verdana"/>
                <a:cs typeface="Arial"/>
              </a:rPr>
              <a:t>Resumo: </a:t>
            </a:r>
            <a:r>
              <a:rPr lang="pt-BR" sz="900" dirty="0">
                <a:latin typeface="Verdana"/>
                <a:ea typeface="Verdana"/>
                <a:cs typeface="Arial"/>
              </a:rPr>
              <a:t>Implantação de infraestrutura em OCI com migração de bancos Oracle e ambientes </a:t>
            </a:r>
            <a:r>
              <a:rPr lang="pt-BR" sz="900" dirty="0" err="1">
                <a:latin typeface="Verdana"/>
                <a:ea typeface="Verdana"/>
                <a:cs typeface="Arial"/>
              </a:rPr>
              <a:t>on-premise</a:t>
            </a:r>
            <a:r>
              <a:rPr lang="pt-BR" sz="900" dirty="0">
                <a:latin typeface="Verdana"/>
                <a:ea typeface="Verdana"/>
                <a:cs typeface="Arial"/>
              </a:rPr>
              <a:t>, visando modernização, segurança e alta disponibilidade.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9634E859-A547-4253-2FBD-DAA7AF225D5F}"/>
              </a:ext>
            </a:extLst>
          </p:cNvPr>
          <p:cNvSpPr txBox="1"/>
          <p:nvPr/>
        </p:nvSpPr>
        <p:spPr>
          <a:xfrm>
            <a:off x="20625" y="4923"/>
            <a:ext cx="208089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>
                <a:latin typeface="Verdana"/>
                <a:ea typeface="Verdana"/>
                <a:cs typeface="Arial"/>
              </a:rPr>
              <a:t>Unimed Limeira</a:t>
            </a: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928B696E-6B60-BF26-0ADD-00011B0CF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2320" y="3923057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6DF7F876-3C0C-338D-34C6-F6DE5E00B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08" y="3682687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72790821-E339-B3BA-D975-7C455E4495B9}"/>
              </a:ext>
            </a:extLst>
          </p:cNvPr>
          <p:cNvSpPr txBox="1"/>
          <p:nvPr/>
        </p:nvSpPr>
        <p:spPr>
          <a:xfrm>
            <a:off x="10736345" y="6676861"/>
            <a:ext cx="1709857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Verdana"/>
              </a:rPr>
              <a:t>Atualização: 01</a:t>
            </a:r>
            <a:r>
              <a:rPr lang="pt-BR" sz="800" dirty="0">
                <a:latin typeface="Verdana"/>
                <a:ea typeface="Verdana"/>
              </a:rPr>
              <a:t>/09/26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6D6B9721-7C64-9C73-F191-6DA06C131B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" y="5162413"/>
            <a:ext cx="336884" cy="336884"/>
          </a:xfrm>
          <a:prstGeom prst="rect">
            <a:avLst/>
          </a:prstGeom>
        </p:spPr>
      </p:pic>
      <p:graphicFrame>
        <p:nvGraphicFramePr>
          <p:cNvPr id="9" name="Tabela 40">
            <a:extLst>
              <a:ext uri="{FF2B5EF4-FFF2-40B4-BE49-F238E27FC236}">
                <a16:creationId xmlns:a16="http://schemas.microsoft.com/office/drawing/2014/main" id="{DFCC3CF4-A934-AD0D-9358-D0E26D9D5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425618"/>
              </p:ext>
            </p:extLst>
          </p:nvPr>
        </p:nvGraphicFramePr>
        <p:xfrm>
          <a:off x="231244" y="2484079"/>
          <a:ext cx="6068402" cy="788654"/>
        </p:xfrm>
        <a:graphic>
          <a:graphicData uri="http://schemas.openxmlformats.org/drawingml/2006/table">
            <a:tbl>
              <a:tblPr/>
              <a:tblGrid>
                <a:gridCol w="606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65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Projeto em fase avançada de disponibilidade do ambiente, para testes e homologação.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4BD4C3CF-5B1D-110B-ADD8-D5F33C525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487909"/>
              </p:ext>
            </p:extLst>
          </p:nvPr>
        </p:nvGraphicFramePr>
        <p:xfrm>
          <a:off x="6761679" y="1159185"/>
          <a:ext cx="5118792" cy="25999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Kick Off 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1">
            <a:extLst>
              <a:ext uri="{FF2B5EF4-FFF2-40B4-BE49-F238E27FC236}">
                <a16:creationId xmlns:a16="http://schemas.microsoft.com/office/drawing/2014/main" id="{D8758D5E-8647-41EB-16B8-ADB0CE8EDFC1}"/>
              </a:ext>
            </a:extLst>
          </p:cNvPr>
          <p:cNvSpPr/>
          <p:nvPr/>
        </p:nvSpPr>
        <p:spPr>
          <a:xfrm>
            <a:off x="2101516" y="18878"/>
            <a:ext cx="1646873" cy="279400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81594E9-980E-439A-0F58-1107CD7E6148}"/>
              </a:ext>
            </a:extLst>
          </p:cNvPr>
          <p:cNvSpPr txBox="1"/>
          <p:nvPr/>
        </p:nvSpPr>
        <p:spPr>
          <a:xfrm>
            <a:off x="2438789" y="31804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D603FC1-45FE-1163-EBC6-5A5787D55760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42F77AD1-2B56-0C08-7D27-2AEC81C8E7F9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AE5FE2F-D044-E1AD-3A85-7B93AA7D668E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93681A7-A928-61D3-722F-F4E1FE17431B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EF8CCB2-FBFB-8226-A1D2-77811093512F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E5017BD-C1C3-07AE-1F2A-C3A98FEE5454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5865AFC6-3C6F-B861-69EF-BA8AEB2CD536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5FE9EDF-B683-D008-993A-E02EE00643BD}"/>
              </a:ext>
            </a:extLst>
          </p:cNvPr>
          <p:cNvSpPr txBox="1"/>
          <p:nvPr/>
        </p:nvSpPr>
        <p:spPr>
          <a:xfrm>
            <a:off x="4334256" y="1312461"/>
            <a:ext cx="208655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D0444A5C-1F58-415B-DAF8-C4520AC57C8D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630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BC1E-7CD5-CE5A-10D3-60195B07F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AEA08E45-4069-B615-B8DC-98834CAA7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DEE51860-1D3F-D510-B426-B4AAA45F7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125" y="3684807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Aten</a:t>
            </a:r>
            <a:r>
              <a:rPr kumimoji="0" lang="en-US" altLang="pt-BR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8C1E6449-FE6D-BA55-9022-E96A184C0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865" y="3998285"/>
            <a:ext cx="5354760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1D8B160E-BCEF-F019-1070-5FF4CD11B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07242D44-19E5-5206-D5ED-592E8DBC4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2B5B202B-E926-4D4C-B9A6-CB31D26E0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838314"/>
              </p:ext>
            </p:extLst>
          </p:nvPr>
        </p:nvGraphicFramePr>
        <p:xfrm>
          <a:off x="153909" y="5031026"/>
          <a:ext cx="6465789" cy="121801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465789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989418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Realizada migração de dois bancos (siga167 e prod167 de Foz do Iguaçu(167) que estão na Federação para a OCI. Previsão: 02/09 a partir das 18h</a:t>
                      </a:r>
                      <a:endParaRPr lang="pt-BR" sz="900" b="0" kern="1200" noProof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4991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A0F9CD8E-BCD8-EE19-B71C-A8520388A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937304"/>
              </p:ext>
            </p:extLst>
          </p:nvPr>
        </p:nvGraphicFramePr>
        <p:xfrm>
          <a:off x="6702917" y="4291597"/>
          <a:ext cx="5461403" cy="2310372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1037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pt-BR" sz="90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Seguir com as atividades do projeto conforme demandas encaminhadas pelo cliente</a:t>
                      </a:r>
                      <a:endParaRPr lang="pt-BR" sz="900" kern="1200" noProof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E4D51A3D-00B1-937C-DF89-9629B0889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23" y="4678068"/>
            <a:ext cx="644014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Principais Conquistas </a:t>
            </a: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30792E63-9380-CE72-18AF-3009F7800FCC}"/>
              </a:ext>
            </a:extLst>
          </p:cNvPr>
          <p:cNvGraphicFramePr>
            <a:graphicFrameLocks noGrp="1"/>
          </p:cNvGraphicFramePr>
          <p:nvPr/>
        </p:nvGraphicFramePr>
        <p:xfrm>
          <a:off x="118564" y="3980722"/>
          <a:ext cx="6481121" cy="737364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736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PrimeDB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Solutions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está sem acesso ao ambiente para fazer o monitoramento;</a:t>
                      </a:r>
                    </a:p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pt-BR" sz="9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Analise sobre FSDR - 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temporariamente congelada.</a:t>
                      </a:r>
                      <a:endParaRPr lang="pt-BR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D4C9635C-7B47-DCD8-7B0D-E1B380DBF1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58986FAB-7C63-0D6D-BA7E-9E1E2DE58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93" y="604376"/>
            <a:ext cx="989183" cy="580687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8CAB0F44-0628-A4FE-6107-6A680885AB75}"/>
              </a:ext>
            </a:extLst>
          </p:cNvPr>
          <p:cNvCxnSpPr>
            <a:cxnSpLocks/>
          </p:cNvCxnSpPr>
          <p:nvPr/>
        </p:nvCxnSpPr>
        <p:spPr>
          <a:xfrm flipV="1">
            <a:off x="452498" y="767207"/>
            <a:ext cx="0" cy="2811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380777FA-8E9D-74F1-692A-742D89AE6184}"/>
              </a:ext>
            </a:extLst>
          </p:cNvPr>
          <p:cNvSpPr txBox="1"/>
          <p:nvPr/>
        </p:nvSpPr>
        <p:spPr>
          <a:xfrm>
            <a:off x="20624" y="345887"/>
            <a:ext cx="84591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Resumo: 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Implantação de infraestrutura em (OCI), incluindo configuração de rede, segurança (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FortiGate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), provisionamento de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VMs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e suporte à migração de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bancos 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de dados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47DA2DF4-BF13-BE5C-8D79-278BCED74941}"/>
              </a:ext>
            </a:extLst>
          </p:cNvPr>
          <p:cNvSpPr txBox="1"/>
          <p:nvPr/>
        </p:nvSpPr>
        <p:spPr>
          <a:xfrm>
            <a:off x="20624" y="7333"/>
            <a:ext cx="2289439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Unimed </a:t>
            </a:r>
            <a:r>
              <a:rPr kumimoji="0" lang="pt-BR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Paran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á</a:t>
            </a: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DC5678BD-DE07-BE08-E958-9EA093FB5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375" y="3998328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F454C49C-F851-BCCE-2BCD-9FCBA2B530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08" y="3682687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95376307-6A34-55CA-EFC6-710D6BD6561F}"/>
              </a:ext>
            </a:extLst>
          </p:cNvPr>
          <p:cNvSpPr txBox="1"/>
          <p:nvPr/>
        </p:nvSpPr>
        <p:spPr>
          <a:xfrm>
            <a:off x="10609885" y="6645467"/>
            <a:ext cx="1709857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Atualização: </a:t>
            </a:r>
            <a:r>
              <a:rPr lang="pt-BR" sz="800" dirty="0">
                <a:solidFill>
                  <a:srgbClr val="E7E6E6">
                    <a:lumMod val="50000"/>
                  </a:srgbClr>
                </a:solidFill>
                <a:latin typeface="Verdana"/>
                <a:ea typeface="Verdana"/>
              </a:rPr>
              <a:t>04/09</a:t>
            </a: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/26</a:t>
            </a: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872B77F0-11B0-9796-7020-306333BA7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680" y="4628471"/>
            <a:ext cx="336884" cy="336884"/>
          </a:xfrm>
          <a:prstGeom prst="rect">
            <a:avLst/>
          </a:prstGeom>
        </p:spPr>
      </p:pic>
      <p:graphicFrame>
        <p:nvGraphicFramePr>
          <p:cNvPr id="9" name="Tabela 40">
            <a:extLst>
              <a:ext uri="{FF2B5EF4-FFF2-40B4-BE49-F238E27FC236}">
                <a16:creationId xmlns:a16="http://schemas.microsoft.com/office/drawing/2014/main" id="{42F6B1AC-C21B-07F7-A3F4-A523CF0F09E0}"/>
              </a:ext>
            </a:extLst>
          </p:cNvPr>
          <p:cNvGraphicFramePr>
            <a:graphicFrameLocks noGrp="1"/>
          </p:cNvGraphicFramePr>
          <p:nvPr/>
        </p:nvGraphicFramePr>
        <p:xfrm>
          <a:off x="126229" y="1841664"/>
          <a:ext cx="6068402" cy="788654"/>
        </p:xfrm>
        <a:graphic>
          <a:graphicData uri="http://schemas.openxmlformats.org/drawingml/2006/table">
            <a:tbl>
              <a:tblPr/>
              <a:tblGrid>
                <a:gridCol w="606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65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Projeto abaixo do planejado, devido a linha de base de evolução do projeto.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Shape 1">
            <a:extLst>
              <a:ext uri="{FF2B5EF4-FFF2-40B4-BE49-F238E27FC236}">
                <a16:creationId xmlns:a16="http://schemas.microsoft.com/office/drawing/2014/main" id="{0CF5F505-A7D5-141C-CEEF-58738CCBD249}"/>
              </a:ext>
            </a:extLst>
          </p:cNvPr>
          <p:cNvSpPr/>
          <p:nvPr/>
        </p:nvSpPr>
        <p:spPr>
          <a:xfrm>
            <a:off x="2113946" y="64088"/>
            <a:ext cx="1254157" cy="279400"/>
          </a:xfrm>
          <a:prstGeom prst="roundRect">
            <a:avLst>
              <a:gd name="adj" fmla="val 16527273"/>
            </a:avLst>
          </a:prstGeom>
          <a:solidFill>
            <a:srgbClr val="E971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AE365927-51E9-FD0C-3618-8E0232D63CA3}"/>
              </a:ext>
            </a:extLst>
          </p:cNvPr>
          <p:cNvSpPr txBox="1"/>
          <p:nvPr/>
        </p:nvSpPr>
        <p:spPr>
          <a:xfrm>
            <a:off x="2373982" y="89614"/>
            <a:ext cx="100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kumimoji="0" lang="en-US" sz="1496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itchFamily="34" charset="0"/>
                <a:ea typeface="Candara" pitchFamily="34" charset="-122"/>
                <a:cs typeface="Candara" pitchFamily="34" charset="-120"/>
              </a:rPr>
              <a:t>Atenção</a:t>
            </a:r>
            <a:endParaRPr kumimoji="0" lang="en-US" sz="149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ela 33">
            <a:extLst>
              <a:ext uri="{FF2B5EF4-FFF2-40B4-BE49-F238E27FC236}">
                <a16:creationId xmlns:a16="http://schemas.microsoft.com/office/drawing/2014/main" id="{0CE6A3D9-295C-F356-F87D-A00678AA64EF}"/>
              </a:ext>
            </a:extLst>
          </p:cNvPr>
          <p:cNvGraphicFramePr>
            <a:graphicFrameLocks noGrp="1"/>
          </p:cNvGraphicFramePr>
          <p:nvPr/>
        </p:nvGraphicFramePr>
        <p:xfrm>
          <a:off x="6761679" y="1159185"/>
          <a:ext cx="5118792" cy="25999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 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4">
            <a:extLst>
              <a:ext uri="{FF2B5EF4-FFF2-40B4-BE49-F238E27FC236}">
                <a16:creationId xmlns:a16="http://schemas.microsoft.com/office/drawing/2014/main" id="{5B6F3C2C-4366-BDDC-A4B5-3E301B1A67E2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B5EA1545-B8CD-3D07-2208-DA491F137F7E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A651FC3C-1A2F-AC57-91AC-7E3CF2899C6F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80%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2AE3E8AC-9D6E-4E05-3ED5-A85B141D3837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84560129-49FC-90EC-43CD-82F6D8855969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B3AB8CF-7029-2E40-6864-191EF37DC16A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70%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ACD0B670-55D8-DE1E-9130-08A6A0387A4D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F47AB6A4-EEE3-2C11-0DD1-97FF14480559}"/>
              </a:ext>
            </a:extLst>
          </p:cNvPr>
          <p:cNvSpPr txBox="1"/>
          <p:nvPr/>
        </p:nvSpPr>
        <p:spPr>
          <a:xfrm>
            <a:off x="4379976" y="1312461"/>
            <a:ext cx="204083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57188E8E-8382-D0C0-AEA9-AD1273AA23D7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87%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86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BC6D-7C8F-0F1C-F125-95169837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8E7C671-EB3B-E547-1AE4-89920227B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BC5FB0BF-0184-96DA-4A22-D19CEFF59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125" y="3684807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B03AF1D0-A09A-7595-05D0-D6F438132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432" y="3904125"/>
            <a:ext cx="5354760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BDEE6CA7-AA32-0A22-4EC9-C5BD8D454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80746A59-DB10-70C9-F804-C63B60DB4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F560CC30-FBDE-C601-799D-4041364E1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507079"/>
              </p:ext>
            </p:extLst>
          </p:nvPr>
        </p:nvGraphicFramePr>
        <p:xfrm>
          <a:off x="118564" y="5594640"/>
          <a:ext cx="6465789" cy="117208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465789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76440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Realizado novo alinhamento com cliente e o mesmo informou que falta finalizar a homologação/testes em apenas 11 telas de apps utilizando o Oracle 19C e que a atividade de migração/upgrade para a versão 19C será realizada no dia 19/09/2026 com uma janela prevista entre as 23h até as 06h do dia 20/09/2026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40768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851F3CF-F432-69E3-D9F6-14AC3DBBC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91753"/>
              </p:ext>
            </p:extLst>
          </p:nvPr>
        </p:nvGraphicFramePr>
        <p:xfrm>
          <a:off x="6684484" y="4197436"/>
          <a:ext cx="5461403" cy="2479425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94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Finalizar testes e homologação utilizando o Oracle 19 em 11 telas dos apps. Time </a:t>
                      </a:r>
                      <a:r>
                        <a:rPr lang="pt-BR" sz="9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Epharma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.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Reunião técnica para preenchimento de </a:t>
                      </a:r>
                      <a:r>
                        <a:rPr lang="pt-BR" sz="9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check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pt-BR" sz="9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list</a:t>
                      </a:r>
                      <a:r>
                        <a:rPr lang="pt-B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/ Plano de Migração. Previsão: 09/09/2026.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FA234932-AD39-9BF1-9273-3534F5752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3" y="5276098"/>
            <a:ext cx="644014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CD33505D-9971-E747-1E04-BCDEC28B9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076042"/>
              </p:ext>
            </p:extLst>
          </p:nvPr>
        </p:nvGraphicFramePr>
        <p:xfrm>
          <a:off x="118564" y="3980721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Ambiente Azure necessário adequação em caso de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Rollback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.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D98A2D43-E4EF-24D1-827F-C9DC4ED5F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42C02F99-C5B9-7AE8-D984-8AB46F95F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93" y="604376"/>
            <a:ext cx="989183" cy="580687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880219AC-1E7F-F551-C381-ED2AC22844F2}"/>
              </a:ext>
            </a:extLst>
          </p:cNvPr>
          <p:cNvCxnSpPr>
            <a:cxnSpLocks/>
          </p:cNvCxnSpPr>
          <p:nvPr/>
        </p:nvCxnSpPr>
        <p:spPr>
          <a:xfrm flipH="1" flipV="1">
            <a:off x="159543" y="919163"/>
            <a:ext cx="330995" cy="1486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B225F3BB-AB29-9C92-EBEA-D0302444F33B}"/>
              </a:ext>
            </a:extLst>
          </p:cNvPr>
          <p:cNvSpPr txBox="1"/>
          <p:nvPr/>
        </p:nvSpPr>
        <p:spPr>
          <a:xfrm>
            <a:off x="20625" y="343477"/>
            <a:ext cx="84591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>
                <a:latin typeface="Verdana"/>
                <a:ea typeface="Verdana"/>
                <a:cs typeface="Arial"/>
              </a:rPr>
              <a:t>Resumo: </a:t>
            </a:r>
            <a:r>
              <a:rPr lang="pt-BR" sz="900">
                <a:latin typeface="Verdana"/>
                <a:ea typeface="Verdana"/>
                <a:cs typeface="Arial"/>
              </a:rPr>
              <a:t>Projeto de provisionamento de infraestrutura em Oracle Cloud (OCI) e migração de bancos de dados Oracle para versão 19c, incluindo preparação de ambiente, testes, homologação e migração produtiva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068FBC28-F673-66D5-8CF7-7F4AD9D54021}"/>
              </a:ext>
            </a:extLst>
          </p:cNvPr>
          <p:cNvSpPr txBox="1"/>
          <p:nvPr/>
        </p:nvSpPr>
        <p:spPr>
          <a:xfrm>
            <a:off x="20625" y="4923"/>
            <a:ext cx="726681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err="1">
                <a:latin typeface="Verdana"/>
                <a:ea typeface="Verdana"/>
                <a:cs typeface="Arial"/>
              </a:rPr>
              <a:t>ePharma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CE896297-6762-33DC-C0A8-F03768B8D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5942" y="3904168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6FF75043-EC86-77CB-C748-16412ED795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08" y="3682687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BFD034A9-F440-8A18-0F83-9386F5B8F513}"/>
              </a:ext>
            </a:extLst>
          </p:cNvPr>
          <p:cNvSpPr txBox="1"/>
          <p:nvPr/>
        </p:nvSpPr>
        <p:spPr>
          <a:xfrm>
            <a:off x="10736345" y="6676861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04/09</a:t>
            </a:r>
            <a:r>
              <a:rPr lang="pt-BR" sz="900" dirty="0">
                <a:solidFill>
                  <a:schemeClr val="bg2">
                    <a:lumMod val="75000"/>
                  </a:schemeClr>
                </a:solidFill>
                <a:latin typeface="Verdana"/>
                <a:ea typeface="Verdana"/>
              </a:rPr>
              <a:t>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603E0EA9-2A9B-53BF-CEB4-1C62D5DD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5226501"/>
            <a:ext cx="336884" cy="336884"/>
          </a:xfrm>
          <a:prstGeom prst="rect">
            <a:avLst/>
          </a:prstGeom>
        </p:spPr>
      </p:pic>
      <p:graphicFrame>
        <p:nvGraphicFramePr>
          <p:cNvPr id="9" name="Tabela 40">
            <a:extLst>
              <a:ext uri="{FF2B5EF4-FFF2-40B4-BE49-F238E27FC236}">
                <a16:creationId xmlns:a16="http://schemas.microsoft.com/office/drawing/2014/main" id="{C70DFF55-4FF6-8C16-2186-487247DD3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15765"/>
              </p:ext>
            </p:extLst>
          </p:nvPr>
        </p:nvGraphicFramePr>
        <p:xfrm>
          <a:off x="231244" y="2484079"/>
          <a:ext cx="6068402" cy="716321"/>
        </p:xfrm>
        <a:graphic>
          <a:graphicData uri="http://schemas.openxmlformats.org/drawingml/2006/table">
            <a:tbl>
              <a:tblPr/>
              <a:tblGrid>
                <a:gridCol w="606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632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Projeto em fase de implantação, plano de migração/Atualização em andamento.</a:t>
                      </a:r>
                      <a:endParaRPr lang="pt-BR" sz="900" kern="12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hape 4">
            <a:extLst>
              <a:ext uri="{FF2B5EF4-FFF2-40B4-BE49-F238E27FC236}">
                <a16:creationId xmlns:a16="http://schemas.microsoft.com/office/drawing/2014/main" id="{2B1902D3-CB58-C222-86B8-9A84B72B4C8C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0F7FADB7-7046-B287-F002-F32B7DB8E6F1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2CE81A7-807B-D169-C6FC-C7EC0FB8DDAF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95%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C64300D-D9BE-282C-C6C4-375D099BD817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A01DA60-F912-565A-B1E7-A3CCA9A95A03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EE374A9-6F47-1A91-9B50-99A3A67E0CC6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95%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ECC0A86D-3EAA-790D-4706-9237659C98E2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2AF4771-C15E-ADE1-9529-247B05C4C30B}"/>
              </a:ext>
            </a:extLst>
          </p:cNvPr>
          <p:cNvSpPr txBox="1"/>
          <p:nvPr/>
        </p:nvSpPr>
        <p:spPr>
          <a:xfrm>
            <a:off x="4334256" y="1312461"/>
            <a:ext cx="208655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52165AA-5A4F-DE19-308D-B6992E450F02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8D4C1EC4-1384-993A-CC2F-1F0563968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884439"/>
              </p:ext>
            </p:extLst>
          </p:nvPr>
        </p:nvGraphicFramePr>
        <p:xfrm>
          <a:off x="6761679" y="1159185"/>
          <a:ext cx="5118792" cy="260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Kick Off 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Execução (Migração OCI)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Upgrade Oracle 11→19c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1">
            <a:extLst>
              <a:ext uri="{FF2B5EF4-FFF2-40B4-BE49-F238E27FC236}">
                <a16:creationId xmlns:a16="http://schemas.microsoft.com/office/drawing/2014/main" id="{6806CF54-17D4-7636-5FA9-37936A3190AE}"/>
              </a:ext>
            </a:extLst>
          </p:cNvPr>
          <p:cNvSpPr/>
          <p:nvPr/>
        </p:nvSpPr>
        <p:spPr>
          <a:xfrm>
            <a:off x="1352756" y="55993"/>
            <a:ext cx="1646873" cy="279400"/>
          </a:xfrm>
          <a:prstGeom prst="roundRect">
            <a:avLst>
              <a:gd name="adj" fmla="val 12586154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A436744-B8F5-98F9-F4A5-467DDE6F495C}"/>
              </a:ext>
            </a:extLst>
          </p:cNvPr>
          <p:cNvSpPr txBox="1"/>
          <p:nvPr/>
        </p:nvSpPr>
        <p:spPr>
          <a:xfrm>
            <a:off x="1637017" y="44212"/>
            <a:ext cx="164687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Estabilização</a:t>
            </a:r>
            <a:endParaRPr lang="en-US" sz="1496"/>
          </a:p>
        </p:txBody>
      </p:sp>
    </p:spTree>
    <p:extLst>
      <p:ext uri="{BB962C8B-B14F-4D97-AF65-F5344CB8AC3E}">
        <p14:creationId xmlns:p14="http://schemas.microsoft.com/office/powerpoint/2010/main" val="2043431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40841-DFAC-C529-F8CA-0CDBAEB5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FF4174F-99D1-1A11-6847-DA659442C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77D769DA-4D2C-55B9-135D-BEC3F2101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44" y="5072436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1478B3B1-7F5F-AAAE-0E53-00FD0FE3D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676" y="5333657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7B8B942C-DA7C-41B5-7198-BF968ADA0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7D584DEA-3ABA-ECC4-2632-BDE458F8F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7BE08DA2-F30A-BB78-5BDF-BF0180E4C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74270"/>
              </p:ext>
            </p:extLst>
          </p:nvPr>
        </p:nvGraphicFramePr>
        <p:xfrm>
          <a:off x="6779684" y="4040310"/>
          <a:ext cx="5274380" cy="125843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27438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241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Planejada a migração da rede INTEGRAÇÃO. Previsão: 31/08;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Realizada migração da rede INTEGRAÇÃO. Previsão: 02/09 a partir das 20h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43426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6430CB28-4934-CE0D-3EEA-3AFAB9410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78831"/>
              </p:ext>
            </p:extLst>
          </p:nvPr>
        </p:nvGraphicFramePr>
        <p:xfrm>
          <a:off x="6620443" y="5655033"/>
          <a:ext cx="5461403" cy="1000034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003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Planejar a migração da rede LIVEONCLICKERP. Previsão: 04/09;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Realizar migração da rede LIVEONCLICKERP. Previsão: 09/09 a partir das 20h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DA3949E6-856B-6010-14EE-0CF384CE2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735" y="3802363"/>
            <a:ext cx="4983655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D1FC64CC-F580-F193-9D73-7FCE57FB8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695871"/>
              </p:ext>
            </p:extLst>
          </p:nvPr>
        </p:nvGraphicFramePr>
        <p:xfrm>
          <a:off x="123328" y="5393598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N/A.</a:t>
                      </a: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A21F39DA-C2B1-4BA2-2D85-57B0C5608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FB81300F-150C-1893-1159-10105A6B2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93" y="604376"/>
            <a:ext cx="989183" cy="580687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7CF1557C-60BC-B678-D30F-294865F1D11B}"/>
              </a:ext>
            </a:extLst>
          </p:cNvPr>
          <p:cNvCxnSpPr>
            <a:cxnSpLocks/>
          </p:cNvCxnSpPr>
          <p:nvPr/>
        </p:nvCxnSpPr>
        <p:spPr>
          <a:xfrm flipH="1" flipV="1">
            <a:off x="284303" y="853204"/>
            <a:ext cx="168195" cy="1951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98F73AE0-F7B8-C0A2-2F36-FAF28649EBD7}"/>
              </a:ext>
            </a:extLst>
          </p:cNvPr>
          <p:cNvSpPr txBox="1"/>
          <p:nvPr/>
        </p:nvSpPr>
        <p:spPr>
          <a:xfrm>
            <a:off x="20624" y="345887"/>
            <a:ext cx="84591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>
                <a:latin typeface="Verdana"/>
                <a:ea typeface="Verdana"/>
                <a:cs typeface="Arial"/>
              </a:rPr>
              <a:t>Resumo:</a:t>
            </a:r>
            <a:r>
              <a:rPr lang="pt-BR" sz="900"/>
              <a:t>. </a:t>
            </a:r>
            <a:r>
              <a:rPr lang="en-BR" sz="900"/>
              <a:t>Migrar as conexões IPsec atualmente existentes no ambiente do cliente para o FortiGate, centralizando a segurança, o roteamento e a inspeção de tráfego das VCNs na OCI por meio de uma arquitetura Hub-and-Spoke com FortiGate em HA</a:t>
            </a:r>
            <a:endParaRPr lang="pt-BR" sz="900">
              <a:latin typeface="Verdana"/>
              <a:ea typeface="Verdana"/>
              <a:cs typeface="Arial"/>
            </a:endParaRP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996AAB95-A749-8B44-643E-7255E2EEB5AA}"/>
              </a:ext>
            </a:extLst>
          </p:cNvPr>
          <p:cNvSpPr txBox="1"/>
          <p:nvPr/>
        </p:nvSpPr>
        <p:spPr>
          <a:xfrm>
            <a:off x="20625" y="492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latin typeface="Verdana"/>
                <a:ea typeface="Verdana"/>
                <a:cs typeface="Arial"/>
              </a:rPr>
              <a:t>Onclick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5B53687E-F278-3C27-09EB-A90E282D5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5439" y="5310081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359C6EEF-4DD6-F39C-9428-BF683BEC4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837" y="5041529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40D585E2-1DEA-B868-7BE5-480CDDCA443D}"/>
              </a:ext>
            </a:extLst>
          </p:cNvPr>
          <p:cNvSpPr txBox="1"/>
          <p:nvPr/>
        </p:nvSpPr>
        <p:spPr>
          <a:xfrm>
            <a:off x="10623133" y="6661767"/>
            <a:ext cx="1709857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</a:t>
            </a:r>
            <a:r>
              <a:rPr lang="pt-BR" sz="8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03/09/26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30989EA5-30A1-1B08-D300-35A8EE123D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0234" y="3738684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E77DA3D2-7FF6-B17A-B516-1FD3255792D9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5D6C3897-331E-B9F1-DB48-3407D9C23AB1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86ED950-8723-6D0F-8098-12FCF65CDED6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7C151A32-8399-104B-6B2F-B900E76C416A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0367A1C-7DDE-B99E-140E-2573E9AF2CB5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6518F70-9505-75DC-3F9E-6764E310A92E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F9CAD08D-8355-3A81-9DC4-AC01BE2AFDD9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E9623FE-820C-5C5E-DC8E-AC1799F3F823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E57CCC5B-3B26-ECE8-982C-5264418E6A41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57E493-AE16-E483-C020-FF4DB87B14B6}"/>
              </a:ext>
            </a:extLst>
          </p:cNvPr>
          <p:cNvSpPr/>
          <p:nvPr/>
        </p:nvSpPr>
        <p:spPr>
          <a:xfrm>
            <a:off x="1244662" y="41087"/>
            <a:ext cx="1646873" cy="279400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65D8BE13-6B72-ED7F-46BC-7C20AD47FDFD}"/>
              </a:ext>
            </a:extLst>
          </p:cNvPr>
          <p:cNvSpPr txBox="1"/>
          <p:nvPr/>
        </p:nvSpPr>
        <p:spPr>
          <a:xfrm>
            <a:off x="1581935" y="54013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819A36AD-7A7F-4D04-99CD-A9D835B4E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637905"/>
              </p:ext>
            </p:extLst>
          </p:nvPr>
        </p:nvGraphicFramePr>
        <p:xfrm>
          <a:off x="6761679" y="1159185"/>
          <a:ext cx="5118792" cy="228285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Kick Off 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684112E4-254F-1DD5-3AC2-2C89914A88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512959"/>
              </p:ext>
            </p:extLst>
          </p:nvPr>
        </p:nvGraphicFramePr>
        <p:xfrm>
          <a:off x="283674" y="2093439"/>
          <a:ext cx="6210395" cy="2518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85330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FC12-EC0E-6E1A-5676-9DA75085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A24C1CD-0215-7FB3-8D18-66DD6BB9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" y="-20266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66463443-0EF3-A6CC-ED7B-BE435DA40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64" y="5110799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7B04937A-CEF7-5FF8-8627-3553072C9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887" y="5233909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8FAC84A6-7579-63D2-6947-56C5B529C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D5107479-3AE4-665E-004C-81E3A9BE6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9B788F8B-E8FB-3194-0D50-25357C60D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05595"/>
              </p:ext>
            </p:extLst>
          </p:nvPr>
        </p:nvGraphicFramePr>
        <p:xfrm>
          <a:off x="6701863" y="4174842"/>
          <a:ext cx="5223674" cy="12398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223674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0555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43426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A38AEFC0-D587-9596-7928-704DA2658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800166"/>
              </p:ext>
            </p:extLst>
          </p:nvPr>
        </p:nvGraphicFramePr>
        <p:xfrm>
          <a:off x="6701863" y="5506353"/>
          <a:ext cx="5461403" cy="1005760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585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Finalizar a criação do DR – Previsão: Aguardando retorno da Oracle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Elaborar documentação do Projeto – Aguardando a criação do DR;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Elaborar Plano de DR – Aguardando a criação do DR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Planejar junto ao cliente a execução do Plano de DR com objetivo de valida-lo. Previsão: À definir com cliente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B5163B1F-2A73-0B77-7F5C-70E3A874C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161" y="3875702"/>
            <a:ext cx="644014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583B4691-AB6F-EDCE-9BEE-E98A92EAC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213893"/>
              </p:ext>
            </p:extLst>
          </p:nvPr>
        </p:nvGraphicFramePr>
        <p:xfrm>
          <a:off x="190571" y="5459180"/>
          <a:ext cx="6481121" cy="336884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88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Aguardando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retorno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da Oracle do ticket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aberto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para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apoio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no upgrade de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recurso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para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construção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do DR.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0DB512F8-6DFD-36FF-62CA-2C334A9589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BE493F2C-F79A-DA19-979F-CF5E9BF51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93" y="604376"/>
            <a:ext cx="989183" cy="580687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7989FC07-6BA2-B4A8-B2F5-0EF410DB12B2}"/>
              </a:ext>
            </a:extLst>
          </p:cNvPr>
          <p:cNvCxnSpPr>
            <a:cxnSpLocks/>
          </p:cNvCxnSpPr>
          <p:nvPr/>
        </p:nvCxnSpPr>
        <p:spPr>
          <a:xfrm flipH="1" flipV="1">
            <a:off x="179125" y="914400"/>
            <a:ext cx="273373" cy="1339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A3154C19-E13C-8BA6-86CC-F2D1349C2D86}"/>
              </a:ext>
            </a:extLst>
          </p:cNvPr>
          <p:cNvSpPr txBox="1"/>
          <p:nvPr/>
        </p:nvSpPr>
        <p:spPr>
          <a:xfrm>
            <a:off x="20624" y="345887"/>
            <a:ext cx="87245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>
                <a:latin typeface="Verdana"/>
                <a:ea typeface="Verdana"/>
                <a:cs typeface="Arial"/>
              </a:rPr>
              <a:t>Resumo:</a:t>
            </a:r>
            <a:r>
              <a:rPr lang="pt-BR" sz="900"/>
              <a:t>. Realizar a redistribuição das bases de dados para dois novos servidores SQL Server Standard, com o objetivo de reorganizar o ambiente, adequar a arquitetura ao novo modelo definido, melhorar a sustentação operacional e permitir a otimização do ambiente de banco dedados</a:t>
            </a:r>
            <a:endParaRPr lang="pt-BR" sz="900">
              <a:latin typeface="Verdana"/>
              <a:ea typeface="Verdana"/>
              <a:cs typeface="Arial"/>
            </a:endParaRP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84E5B53E-4FEC-5852-FB33-166EAE0BCDC7}"/>
              </a:ext>
            </a:extLst>
          </p:cNvPr>
          <p:cNvSpPr txBox="1"/>
          <p:nvPr/>
        </p:nvSpPr>
        <p:spPr>
          <a:xfrm>
            <a:off x="20625" y="492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err="1">
                <a:latin typeface="Verdana"/>
                <a:ea typeface="Verdana"/>
                <a:cs typeface="Arial"/>
              </a:rPr>
              <a:t>LeadLovers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E905BE4C-4674-03AB-F8D2-B479C84BF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7161" y="5251709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A63EBD9D-8391-55D4-E5F1-594248388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96" y="5101687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5F3F387A-701B-A5DD-BA41-A54022F8B270}"/>
              </a:ext>
            </a:extLst>
          </p:cNvPr>
          <p:cNvSpPr txBox="1"/>
          <p:nvPr/>
        </p:nvSpPr>
        <p:spPr>
          <a:xfrm>
            <a:off x="10795874" y="6622979"/>
            <a:ext cx="1709857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04/09</a:t>
            </a:r>
            <a:r>
              <a:rPr lang="pt-BR" sz="8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/26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FA1D1577-06CD-C357-82D3-897D13E8D3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4444" y="3829560"/>
            <a:ext cx="336884" cy="336884"/>
          </a:xfrm>
          <a:prstGeom prst="rect">
            <a:avLst/>
          </a:prstGeom>
        </p:spPr>
      </p:pic>
      <p:graphicFrame>
        <p:nvGraphicFramePr>
          <p:cNvPr id="9" name="Tabela 40">
            <a:extLst>
              <a:ext uri="{FF2B5EF4-FFF2-40B4-BE49-F238E27FC236}">
                <a16:creationId xmlns:a16="http://schemas.microsoft.com/office/drawing/2014/main" id="{00711857-3D2E-AD0B-7DB8-73AAD778B0F1}"/>
              </a:ext>
            </a:extLst>
          </p:cNvPr>
          <p:cNvGraphicFramePr>
            <a:graphicFrameLocks noGrp="1"/>
          </p:cNvGraphicFramePr>
          <p:nvPr/>
        </p:nvGraphicFramePr>
        <p:xfrm>
          <a:off x="231244" y="2484079"/>
          <a:ext cx="6068402" cy="788654"/>
        </p:xfrm>
        <a:graphic>
          <a:graphicData uri="http://schemas.openxmlformats.org/drawingml/2006/table">
            <a:tbl>
              <a:tblPr/>
              <a:tblGrid>
                <a:gridCol w="606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65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pt-BR" sz="900" kern="12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hape 4">
            <a:extLst>
              <a:ext uri="{FF2B5EF4-FFF2-40B4-BE49-F238E27FC236}">
                <a16:creationId xmlns:a16="http://schemas.microsoft.com/office/drawing/2014/main" id="{629B9C0E-19A2-070E-A346-F3F070F876ED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1DE64F8-BC3C-8731-CB6A-DA9DF6F34FF3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C1AC252-F394-14DA-9329-C33B5FD5527F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79%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C11C6233-DF5F-E629-FE43-1737833C9437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B3FEE25-7509-D632-544C-C567263AA020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7BC05CB-3F97-8996-4D93-9D4AD9228276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89%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B711A9B4-2143-3E1E-0D6D-66DEB296D356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531AC9B4-0AA6-4716-71E2-7CA85E76AEFB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18EAE96-7251-28EC-C2CE-F6E4349C1AE9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32E4CF-3496-FD31-D18D-5931E38FB920}"/>
              </a:ext>
            </a:extLst>
          </p:cNvPr>
          <p:cNvSpPr/>
          <p:nvPr/>
        </p:nvSpPr>
        <p:spPr>
          <a:xfrm>
            <a:off x="1602560" y="41087"/>
            <a:ext cx="1646873" cy="279400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8D28AD84-5A5C-4CD8-DB17-287E72A8229C}"/>
              </a:ext>
            </a:extLst>
          </p:cNvPr>
          <p:cNvSpPr txBox="1"/>
          <p:nvPr/>
        </p:nvSpPr>
        <p:spPr>
          <a:xfrm>
            <a:off x="1941858" y="52937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F6E32B4E-514C-E6DB-9839-3F2C54451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19479"/>
              </p:ext>
            </p:extLst>
          </p:nvPr>
        </p:nvGraphicFramePr>
        <p:xfrm>
          <a:off x="6761679" y="1159185"/>
          <a:ext cx="5118792" cy="25999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Kick Off 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77C4DF0-2C8E-21BB-91DA-8E0AB6E060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1725190"/>
              </p:ext>
            </p:extLst>
          </p:nvPr>
        </p:nvGraphicFramePr>
        <p:xfrm>
          <a:off x="290391" y="2079325"/>
          <a:ext cx="6165528" cy="2599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93190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088E-A283-6DFC-8E94-C4A2FC61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AF4F77BD-36D1-0172-95AB-0E89E4E82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88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0C4CC3B2-657A-9C43-F746-400728032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110" y="4953036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2BEDBFDB-2F4A-F080-D9D6-596E8CD2E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192" y="5152559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0080F54F-C771-27F9-39FE-11199D91A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0B691D28-E1C5-02A1-E426-71805B346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78E22991-BC2C-110A-BE0D-2CA9094CB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091351"/>
              </p:ext>
            </p:extLst>
          </p:nvPr>
        </p:nvGraphicFramePr>
        <p:xfrm>
          <a:off x="6895991" y="3448246"/>
          <a:ext cx="5196635" cy="14173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196635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529850"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Ø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Histórico completo: carga de 1,32 bilhão de linhas no Bronze e transformação no Silver,</a:t>
                      </a:r>
                    </a:p>
                    <a:p>
                      <a:pPr marL="171450" indent="-171450">
                        <a:buFont typeface="Wingdings" pitchFamily="2" charset="2"/>
                        <a:buChar char="Ø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Reprocessamento 50x mais rápido. Aplicado novo padrão, tornando o processo de recarga muito mais eficiente;</a:t>
                      </a:r>
                    </a:p>
                    <a:p>
                      <a:pPr marL="171450" indent="-171450">
                        <a:buFont typeface="Wingdings" pitchFamily="2" charset="2"/>
                        <a:buChar char="Ø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Fechamento de agosto: realizada a atualização e reconciliação do período;</a:t>
                      </a:r>
                    </a:p>
                    <a:p>
                      <a:pPr marL="171450" indent="-171450">
                        <a:buFont typeface="Wingdings" pitchFamily="2" charset="2"/>
                        <a:buChar char="Ø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Desperdício e Power BI: concluído o 4º Data Mart, para consumo da Controladoria em modelo self-service.</a:t>
                      </a:r>
                    </a:p>
                    <a:p>
                      <a:pPr marL="171450" indent="-171450">
                        <a:buFont typeface="Wingdings" pitchFamily="2" charset="2"/>
                        <a:buChar char="Ø"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5424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C9A2ACCB-2278-2990-FAA5-153AABFE9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637833"/>
              </p:ext>
            </p:extLst>
          </p:nvPr>
        </p:nvGraphicFramePr>
        <p:xfrm>
          <a:off x="6991529" y="5404857"/>
          <a:ext cx="5101098" cy="758450"/>
        </p:xfrm>
        <a:graphic>
          <a:graphicData uri="http://schemas.openxmlformats.org/drawingml/2006/table">
            <a:tbl>
              <a:tblPr/>
              <a:tblGrid>
                <a:gridCol w="5101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2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indent="-171450">
                        <a:buFont typeface="Wingdings" pitchFamily="2" charset="2"/>
                        <a:buChar char="Ø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Dar seguimento na criação dos painéis(5) e validação dos dados.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225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341307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1EB95605-4D34-F8F1-8894-1D839B737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002" y="3177568"/>
            <a:ext cx="494978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1E5A64CC-4150-0D1A-99DC-6C3F8455E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231197"/>
              </p:ext>
            </p:extLst>
          </p:nvPr>
        </p:nvGraphicFramePr>
        <p:xfrm>
          <a:off x="244934" y="5206568"/>
          <a:ext cx="6481121" cy="626468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646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N/A.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1F6AC955-0AFE-9ADC-D1E4-9C26BEE677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2E8D0A46-1196-1C04-75CE-082151337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93" y="604376"/>
            <a:ext cx="989183" cy="580687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40933F2E-0923-04B2-A808-574CC82DCE87}"/>
              </a:ext>
            </a:extLst>
          </p:cNvPr>
          <p:cNvCxnSpPr>
            <a:cxnSpLocks/>
          </p:cNvCxnSpPr>
          <p:nvPr/>
        </p:nvCxnSpPr>
        <p:spPr>
          <a:xfrm flipH="1" flipV="1">
            <a:off x="231244" y="853204"/>
            <a:ext cx="221254" cy="1951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C34DDC96-17F7-78F1-C6B4-1E47AB5C967F}"/>
              </a:ext>
            </a:extLst>
          </p:cNvPr>
          <p:cNvSpPr txBox="1"/>
          <p:nvPr/>
        </p:nvSpPr>
        <p:spPr>
          <a:xfrm>
            <a:off x="20624" y="345887"/>
            <a:ext cx="914400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 dirty="0">
                <a:latin typeface="Verdana"/>
                <a:ea typeface="Verdana"/>
                <a:cs typeface="Arial"/>
              </a:rPr>
              <a:t>Resumo:</a:t>
            </a:r>
            <a:r>
              <a:rPr lang="pt-BR" sz="900" dirty="0"/>
              <a:t>.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pt-BR" sz="9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struturar</a:t>
            </a:r>
            <a:r>
              <a:rPr lang="pt-BR"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pt-BR" sz="9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Datalake</a:t>
            </a:r>
            <a:r>
              <a:rPr lang="pt-BR"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corporativo que centralize, trate e padronize os dados utilizados pela Controladoria, disponibilizando bases confiáveis para consumo via ferramentas de BI, planilhas, consultas analíticas e indicadores gerenciais e financeiros, preservando as regras de negócio já existentes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375EE96D-B631-7CBF-C220-26559D18A7B7}"/>
              </a:ext>
            </a:extLst>
          </p:cNvPr>
          <p:cNvSpPr txBox="1"/>
          <p:nvPr/>
        </p:nvSpPr>
        <p:spPr>
          <a:xfrm>
            <a:off x="20625" y="492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latin typeface="Verdana"/>
                <a:ea typeface="Verdana"/>
                <a:cs typeface="Arial"/>
              </a:rPr>
              <a:t>Madero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658854AF-A8FD-5BC6-A064-C6C4E2F62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9991" y="5146482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1CBB8638-1FFD-AFEF-79B2-EE9D40CD2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93" y="4957958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2D5FA898-3B6C-3140-267B-D45250987DAC}"/>
              </a:ext>
            </a:extLst>
          </p:cNvPr>
          <p:cNvSpPr txBox="1"/>
          <p:nvPr/>
        </p:nvSpPr>
        <p:spPr>
          <a:xfrm>
            <a:off x="10747617" y="6653744"/>
            <a:ext cx="1709857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</a:t>
            </a:r>
            <a:r>
              <a:rPr lang="pt-BR" sz="8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/09/26</a:t>
            </a:r>
            <a:endParaRPr kumimoji="0" lang="pt-BR" sz="8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9" name="Tabela 40">
            <a:extLst>
              <a:ext uri="{FF2B5EF4-FFF2-40B4-BE49-F238E27FC236}">
                <a16:creationId xmlns:a16="http://schemas.microsoft.com/office/drawing/2014/main" id="{4C8B5C32-0A4D-1B16-1A69-A34DE6858CE0}"/>
              </a:ext>
            </a:extLst>
          </p:cNvPr>
          <p:cNvGraphicFramePr>
            <a:graphicFrameLocks noGrp="1"/>
          </p:cNvGraphicFramePr>
          <p:nvPr/>
        </p:nvGraphicFramePr>
        <p:xfrm>
          <a:off x="231244" y="2484079"/>
          <a:ext cx="6068402" cy="788654"/>
        </p:xfrm>
        <a:graphic>
          <a:graphicData uri="http://schemas.openxmlformats.org/drawingml/2006/table">
            <a:tbl>
              <a:tblPr/>
              <a:tblGrid>
                <a:gridCol w="606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65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pt-BR" sz="900" kern="12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hape 4">
            <a:extLst>
              <a:ext uri="{FF2B5EF4-FFF2-40B4-BE49-F238E27FC236}">
                <a16:creationId xmlns:a16="http://schemas.microsoft.com/office/drawing/2014/main" id="{A5F56CD1-2865-7CA7-5F7A-311EDC76BDDB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DFFE4AF-5677-91C3-3D10-A692EFB6A794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6730012-1FD8-6778-E2E4-CD4509BF62F4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80%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5EBE1F91-FAEF-3B36-A62F-C3EE317BD6F1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41FA5AB-B6D6-DFED-DA35-16D555E04FCD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CCA8F80-5A9E-9EE2-170E-3D5D0637C2C6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80%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8276E73-E5CB-1BCC-B697-DDA5BC191047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7F25FC5-0FC8-C004-42E1-C9ABE9978241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18CC69C-2F50-A43D-22AD-4624A4D02383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C46CA5-32BB-6CD6-2288-686D1D616368}"/>
              </a:ext>
            </a:extLst>
          </p:cNvPr>
          <p:cNvSpPr/>
          <p:nvPr/>
        </p:nvSpPr>
        <p:spPr>
          <a:xfrm>
            <a:off x="1042122" y="52937"/>
            <a:ext cx="1646873" cy="279400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A4C92A6-351F-6DAF-D81D-5FD8CB88710C}"/>
              </a:ext>
            </a:extLst>
          </p:cNvPr>
          <p:cNvSpPr txBox="1"/>
          <p:nvPr/>
        </p:nvSpPr>
        <p:spPr>
          <a:xfrm>
            <a:off x="1381420" y="64787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dirty="0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 dirty="0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128EEC50-64FE-3EDE-4913-E77147D5F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29932"/>
              </p:ext>
            </p:extLst>
          </p:nvPr>
        </p:nvGraphicFramePr>
        <p:xfrm>
          <a:off x="6761679" y="1261661"/>
          <a:ext cx="5118792" cy="16485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719603319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Data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 dirty="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01/07/26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01269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 dirty="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03/07/26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 dirty="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18/09/26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87,5%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 dirty="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21/09/26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5" name="Graphic 42" descr="Checkbox Checked with solid fill">
            <a:extLst>
              <a:ext uri="{FF2B5EF4-FFF2-40B4-BE49-F238E27FC236}">
                <a16:creationId xmlns:a16="http://schemas.microsoft.com/office/drawing/2014/main" id="{3EC09564-C3C0-3A8F-25EC-5F0883C7B9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4444" y="3103694"/>
            <a:ext cx="336884" cy="336884"/>
          </a:xfrm>
          <a:prstGeom prst="rect">
            <a:avLst/>
          </a:prstGeom>
        </p:spPr>
      </p:pic>
      <p:graphicFrame>
        <p:nvGraphicFramePr>
          <p:cNvPr id="6" name="CurvaS">
            <a:extLst>
              <a:ext uri="{FF2B5EF4-FFF2-40B4-BE49-F238E27FC236}">
                <a16:creationId xmlns:a16="http://schemas.microsoft.com/office/drawing/2014/main" id="{DCC95FD5-5D70-4FC5-5538-0178DA3717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524971"/>
              </p:ext>
            </p:extLst>
          </p:nvPr>
        </p:nvGraphicFramePr>
        <p:xfrm>
          <a:off x="320486" y="2032496"/>
          <a:ext cx="6100325" cy="2818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495365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AA8F-913C-0AC7-BA6A-0A9EA016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437E82E-F574-3CEE-D22A-42BACF36F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54EBCD87-B180-294C-5915-04B7C880E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808" y="4349739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4B9E5C27-29C0-1B54-40A3-55F721D79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864" y="3911525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D50E58D4-5ED5-88C0-5ADF-277B25B7E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09C4BFE7-2CD3-CA6B-F65A-39BEEC9BB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0940F37B-B973-3CAA-2E38-4E6A175D1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008643"/>
              </p:ext>
            </p:extLst>
          </p:nvPr>
        </p:nvGraphicFramePr>
        <p:xfrm>
          <a:off x="118564" y="5594640"/>
          <a:ext cx="6465789" cy="151630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465789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241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Realizada a instalação do Sistema Operacional Oracle Linux, criação e configuração da Base Oracle 19C;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Realizada analise no ambiente SQL Server;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Elaborado e encaminhado para o cliente relatório da análise no ambiente SQL Server.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43426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BEE53792-5144-03C8-FAC9-9D8D10288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763915"/>
              </p:ext>
            </p:extLst>
          </p:nvPr>
        </p:nvGraphicFramePr>
        <p:xfrm>
          <a:off x="6701862" y="4157538"/>
          <a:ext cx="5461403" cy="2437136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3713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Aguardando retorno do cliente sobre o relatório encaminhado do ambiente SQL Server;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Acompanhar chegada do ODA para planejar migração do banco de dados. Previsão: out/26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5A07F192-9796-4770-E0E9-35F35FB7F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3" y="5276098"/>
            <a:ext cx="644014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4614763A-1645-FBA5-52EA-31E87B000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418440"/>
              </p:ext>
            </p:extLst>
          </p:nvPr>
        </p:nvGraphicFramePr>
        <p:xfrm>
          <a:off x="118564" y="4545171"/>
          <a:ext cx="6481121" cy="57927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27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Este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projeto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terá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uma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pausa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depois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do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dia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20/07/26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até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a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chegada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do ODA, </a:t>
                      </a:r>
                      <a:r>
                        <a:rPr lang="en-US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prevista</a:t>
                      </a: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para Out-26</a:t>
                      </a: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712BF4C4-0D55-E446-1859-C04BC16E3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5DAA64B9-0DBC-2688-B0E8-541685D5D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2376A07D-598D-218A-6DAB-97675BB43FD2}"/>
              </a:ext>
            </a:extLst>
          </p:cNvPr>
          <p:cNvCxnSpPr>
            <a:cxnSpLocks/>
          </p:cNvCxnSpPr>
          <p:nvPr/>
        </p:nvCxnSpPr>
        <p:spPr>
          <a:xfrm flipV="1">
            <a:off x="452498" y="806159"/>
            <a:ext cx="0" cy="2421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4E4D88A9-76AA-89BD-51E3-4F66815B3B9A}"/>
              </a:ext>
            </a:extLst>
          </p:cNvPr>
          <p:cNvSpPr txBox="1"/>
          <p:nvPr/>
        </p:nvSpPr>
        <p:spPr>
          <a:xfrm>
            <a:off x="55556" y="278546"/>
            <a:ext cx="914400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900" b="1">
                <a:latin typeface="Verdana"/>
                <a:ea typeface="Verdana"/>
                <a:cs typeface="Arial"/>
              </a:rPr>
              <a:t>Resumo:</a:t>
            </a:r>
            <a:r>
              <a:rPr lang="pt-BR" sz="900"/>
              <a:t>. Realizar o setup inicial do ambiente Oracle no servidor físico Dell contemplando a validação do hardware, instalação e configuração do Oracle Linux e do Oracle </a:t>
            </a:r>
            <a:r>
              <a:rPr lang="pt-BR" sz="900" err="1"/>
              <a:t>Database</a:t>
            </a:r>
            <a:r>
              <a:rPr lang="pt-BR" sz="900"/>
              <a:t> 19c, Realizar análise em ambiente SQL Server, com foco em análise inicial de performance, identificação de gargalos evidentes e aplicação de ajustes possíveis e seguros dentro da janela contratada. Realizar instalação, configuração e migração do ODA X11</a:t>
            </a:r>
            <a:endParaRPr lang="pt-BR" sz="900">
              <a:latin typeface="Verdana"/>
              <a:ea typeface="Verdana"/>
              <a:cs typeface="Arial"/>
            </a:endParaRP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71D2054C-05DA-05F4-664D-8B001F339A4A}"/>
              </a:ext>
            </a:extLst>
          </p:cNvPr>
          <p:cNvSpPr txBox="1"/>
          <p:nvPr/>
        </p:nvSpPr>
        <p:spPr>
          <a:xfrm>
            <a:off x="20625" y="492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latin typeface="Verdana"/>
                <a:ea typeface="Verdana"/>
                <a:cs typeface="Arial"/>
              </a:rPr>
              <a:t>Brazil </a:t>
            </a:r>
            <a:r>
              <a:rPr lang="en-US" sz="1600" b="1" err="1">
                <a:latin typeface="Verdana"/>
                <a:ea typeface="Verdana"/>
                <a:cs typeface="Arial"/>
              </a:rPr>
              <a:t>Atacado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1DB1006B-ACFA-5A1A-F753-3A9EA3355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3911568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C9F4DDD8-A85E-9CE2-C7F3-2D787C35B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29" y="4324233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71422B20-9719-3829-0CE8-1873D55D9C5E}"/>
              </a:ext>
            </a:extLst>
          </p:cNvPr>
          <p:cNvSpPr txBox="1"/>
          <p:nvPr/>
        </p:nvSpPr>
        <p:spPr>
          <a:xfrm>
            <a:off x="10600707" y="6646961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14154528-3D26-7A60-82A7-27134B6DBB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5226501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F030A234-0DC7-E870-25D6-E5E0A79C3229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0352632-B499-6093-CD8D-74E51B97FE74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92913BA-635B-7D4C-6421-7F8EB8F97E71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58%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2D27B143-0A1D-ED8D-6E0A-1FB3F4BED467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1220B02A-9E91-D2E5-BF4C-391DE8236255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CA17C4FA-8B47-960F-507A-B55DDC040634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58%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658B8AED-2C52-20A7-7227-BFF598F3F048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22FAB5A-C2DD-C07F-5A3E-56EFADB34B69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A920595-729E-B30D-A69D-86E2D6B7A7C9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4F2729-36A2-E1B2-E86C-AA47D0EC6413}"/>
              </a:ext>
            </a:extLst>
          </p:cNvPr>
          <p:cNvSpPr/>
          <p:nvPr/>
        </p:nvSpPr>
        <p:spPr>
          <a:xfrm>
            <a:off x="2556177" y="59712"/>
            <a:ext cx="1646873" cy="279400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03C227F-0372-7A4A-812A-ADF802DC7EFF}"/>
              </a:ext>
            </a:extLst>
          </p:cNvPr>
          <p:cNvSpPr txBox="1"/>
          <p:nvPr/>
        </p:nvSpPr>
        <p:spPr>
          <a:xfrm>
            <a:off x="2992441" y="75205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F478B684-364E-AE1E-231D-E584AA096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2378"/>
              </p:ext>
            </p:extLst>
          </p:nvPr>
        </p:nvGraphicFramePr>
        <p:xfrm>
          <a:off x="6761679" y="1159185"/>
          <a:ext cx="5118792" cy="25999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Kick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</a:t>
                      </a:r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 </a:t>
                      </a:r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Concluído</a:t>
                      </a:r>
                      <a:endParaRPr lang="pt-BR" sz="1000" b="1">
                        <a:solidFill>
                          <a:srgbClr val="1E3A5F"/>
                        </a:solidFill>
                      </a:endParaRP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CBAED27F-3D0B-FF71-80D7-267003773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45456"/>
              </p:ext>
            </p:extLst>
          </p:nvPr>
        </p:nvGraphicFramePr>
        <p:xfrm>
          <a:off x="284983" y="2074968"/>
          <a:ext cx="6135828" cy="2067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80909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7352-0DDC-2990-7087-9FB93E49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B7CDE4F9-56BB-F2B7-1A67-F4FC5F9B9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58252530-F655-36A8-4840-534126267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46" y="3784737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3AB825DB-15CE-65E7-981A-477C132A9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864" y="3911525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EFDA691A-1837-6998-2E17-BF2D067D2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E1FDA329-4C90-E4A2-B547-08FBD5A7D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7137B874-9AA9-C11D-C8C9-B1272007C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208351"/>
              </p:ext>
            </p:extLst>
          </p:nvPr>
        </p:nvGraphicFramePr>
        <p:xfrm>
          <a:off x="102050" y="5370167"/>
          <a:ext cx="6465789" cy="151630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465789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241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Realizada migração. 01/08 a partir das 06h horas;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Realizado acompanhamento pós migração;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Implementado o Ambiente de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Disaster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Recovery (DR) no ODA X7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Elaborada documentação do projeto.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43426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7688EE16-928A-FB71-8A4A-5601768C7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383572"/>
              </p:ext>
            </p:extLst>
          </p:nvPr>
        </p:nvGraphicFramePr>
        <p:xfrm>
          <a:off x="6701862" y="4157538"/>
          <a:ext cx="5461403" cy="4874272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3713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Encaminhar Termo de Encerramento do Projeto;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Abrir ticket Oracle para verificar barulho nas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fans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do hardware. Aguardando cliente adicionar CSI no portal de suporte da Oracle.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136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24717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89C80FEA-27AA-DD57-ECB5-A1C1BE90D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985" y="5044416"/>
            <a:ext cx="644014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17399D07-F63E-91EC-F877-F494271A680F}"/>
              </a:ext>
            </a:extLst>
          </p:cNvPr>
          <p:cNvGraphicFramePr>
            <a:graphicFrameLocks noGrp="1"/>
          </p:cNvGraphicFramePr>
          <p:nvPr/>
        </p:nvGraphicFramePr>
        <p:xfrm>
          <a:off x="118564" y="3980721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N/A.</a:t>
                      </a: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C126AD8E-BF32-C30D-8C78-3FD80E8D6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B036FEDE-9382-7BD3-1C4E-3C2C9E765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FB29A307-64DD-96D7-9768-DE02B26E45D4}"/>
              </a:ext>
            </a:extLst>
          </p:cNvPr>
          <p:cNvCxnSpPr>
            <a:cxnSpLocks/>
          </p:cNvCxnSpPr>
          <p:nvPr/>
        </p:nvCxnSpPr>
        <p:spPr>
          <a:xfrm flipH="1" flipV="1">
            <a:off x="201546" y="932688"/>
            <a:ext cx="250952" cy="1156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242277BF-7FD3-2B70-6126-18E473A5559D}"/>
              </a:ext>
            </a:extLst>
          </p:cNvPr>
          <p:cNvSpPr txBox="1"/>
          <p:nvPr/>
        </p:nvSpPr>
        <p:spPr>
          <a:xfrm>
            <a:off x="55556" y="278546"/>
            <a:ext cx="9144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>
                <a:latin typeface="Verdana"/>
                <a:ea typeface="Verdana"/>
                <a:cs typeface="Arial"/>
              </a:rPr>
              <a:t>Resumo:</a:t>
            </a:r>
            <a:r>
              <a:rPr lang="pt-BR" sz="1000"/>
              <a:t>. implantação do Oracle </a:t>
            </a:r>
            <a:r>
              <a:rPr lang="pt-BR" sz="1000" err="1"/>
              <a:t>Database</a:t>
            </a:r>
            <a:r>
              <a:rPr lang="pt-BR" sz="1000"/>
              <a:t> Appliance ODA X11_S como ambiente de produção, migração controlada dos bancos de dados atualmente executados no ODA X7 para o ODA X11_S, implantação/configuração do ODA X7 como ambiente de </a:t>
            </a:r>
            <a:r>
              <a:rPr lang="pt-BR" sz="1000" err="1"/>
              <a:t>Disaster</a:t>
            </a:r>
            <a:r>
              <a:rPr lang="pt-BR" sz="1000"/>
              <a:t> Recovery e migração de banco de dados do servidor HP para o ODA X7.</a:t>
            </a:r>
            <a:endParaRPr lang="pt-BR" sz="1000">
              <a:latin typeface="Verdana"/>
              <a:ea typeface="Verdana"/>
              <a:cs typeface="Arial"/>
            </a:endParaRP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55BB3D4F-781B-EF24-D9E1-AAFDBF0FDD30}"/>
              </a:ext>
            </a:extLst>
          </p:cNvPr>
          <p:cNvSpPr txBox="1"/>
          <p:nvPr/>
        </p:nvSpPr>
        <p:spPr>
          <a:xfrm>
            <a:off x="20625" y="492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latin typeface="Verdana"/>
                <a:ea typeface="Verdana"/>
                <a:cs typeface="Arial"/>
              </a:rPr>
              <a:t>Cadan </a:t>
            </a:r>
            <a:r>
              <a:rPr lang="en-US" sz="1600" b="1" err="1">
                <a:latin typeface="Verdana"/>
                <a:ea typeface="Verdana"/>
                <a:cs typeface="Arial"/>
              </a:rPr>
              <a:t>Distribuição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47D0815C-3B93-A260-5FFE-EFEA3B962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3911568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B3622EFC-0D3A-E970-D85D-295A99CC0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29" y="3793881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C4F27435-DD55-0B05-A88B-D4AD0AD66741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42BAC2E1-06A8-7CCF-99B4-97CBE14FD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981402"/>
            <a:ext cx="336884" cy="336884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36299A7A-76ED-C644-770E-A835C03760F5}"/>
              </a:ext>
            </a:extLst>
          </p:cNvPr>
          <p:cNvSpPr/>
          <p:nvPr/>
        </p:nvSpPr>
        <p:spPr>
          <a:xfrm>
            <a:off x="2556177" y="59712"/>
            <a:ext cx="1634373" cy="218834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36399488-E56B-CFD5-CF60-FFE0B73105D1}"/>
              </a:ext>
            </a:extLst>
          </p:cNvPr>
          <p:cNvSpPr txBox="1"/>
          <p:nvPr/>
        </p:nvSpPr>
        <p:spPr>
          <a:xfrm>
            <a:off x="2992441" y="32153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7DD1C374-ACE6-0C65-BDB1-8FAD5BFD4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379627"/>
              </p:ext>
            </p:extLst>
          </p:nvPr>
        </p:nvGraphicFramePr>
        <p:xfrm>
          <a:off x="6761679" y="1159185"/>
          <a:ext cx="5118792" cy="25999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6534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6534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6534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653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54D8263F-C386-2A75-F467-A9FAF94303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6624280"/>
              </p:ext>
            </p:extLst>
          </p:nvPr>
        </p:nvGraphicFramePr>
        <p:xfrm>
          <a:off x="293754" y="2018188"/>
          <a:ext cx="6156396" cy="1696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" name="Shape 4">
            <a:extLst>
              <a:ext uri="{FF2B5EF4-FFF2-40B4-BE49-F238E27FC236}">
                <a16:creationId xmlns:a16="http://schemas.microsoft.com/office/drawing/2014/main" id="{14E5327D-9486-9B9E-6803-53A3EF87F16F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F45D098-AF1A-FB23-6BF9-1C2BC3E277A6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BFFB830-40CA-0F3A-0DAD-4746B5174BBF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C5F6779-777A-8D25-B6CC-6D11905D6CA0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3888BF2-C9ED-4089-10EA-93F855676406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FB36369-0650-E2B3-0E4F-EBA38A60FAB6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11965158-B0EE-E8AB-4BE9-53860511D6B2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4836BFE9-2665-632C-BD0D-9FA49CD11E9D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7B7E9BEA-16AE-381D-E6F6-64A96C70B23B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408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8572-57DA-C4E0-ECA9-B49C9AC7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BFDE0B02-AAAE-8CBC-E3B4-A0DBBDFAC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3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A1E9E5C2-9615-DE3A-CF4E-9465E9C3B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21" y="5371779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 dirty="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dirty="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E802981B-51F4-6911-7969-5B6794D1F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307" y="5618000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A9C5512F-BAC7-3461-3EC9-A83F77133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CFBE716D-AA1A-BAF2-FEB1-078AA99FF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39167DF8-F4B6-8E10-D7B0-3649BD25B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50509"/>
              </p:ext>
            </p:extLst>
          </p:nvPr>
        </p:nvGraphicFramePr>
        <p:xfrm>
          <a:off x="6718249" y="4213224"/>
          <a:ext cx="4953166" cy="114655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53166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28890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Onda 1 (48 máquinas):</a:t>
                      </a:r>
                    </a:p>
                    <a:p>
                      <a:pPr marL="62865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Máquinas entregues: 22;</a:t>
                      </a:r>
                    </a:p>
                    <a:p>
                      <a:pPr marL="62865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Máquinas inseridas em produção: 5;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77874">
                <a:tc>
                  <a:txBody>
                    <a:bodyPr/>
                    <a:lstStyle/>
                    <a:p>
                      <a:pPr marL="457200" marR="0" lvl="1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08BF2C91-9802-E14E-C0C5-3F4AF2D4A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97674"/>
              </p:ext>
            </p:extLst>
          </p:nvPr>
        </p:nvGraphicFramePr>
        <p:xfrm>
          <a:off x="6701862" y="5879804"/>
          <a:ext cx="5461403" cy="3152006"/>
        </p:xfrm>
        <a:graphic>
          <a:graphicData uri="http://schemas.openxmlformats.org/drawingml/2006/table">
            <a:tbl>
              <a:tblPr/>
              <a:tblGrid>
                <a:gridCol w="546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600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Onda 1 (48 máquinas):</a:t>
                      </a:r>
                    </a:p>
                    <a:p>
                      <a:pPr marL="62865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Seguir com o preenchimento das informações: 14;</a:t>
                      </a:r>
                    </a:p>
                    <a:p>
                      <a:pPr marL="62865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Seguir com a migração/criação: 7;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6003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24717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3B8BC7CB-C6B0-6250-F00D-EFCB1F6E1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902" y="3850595"/>
            <a:ext cx="511879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 dirty="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203DF84-E39B-B700-1A4A-1C04F6FFF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945968"/>
              </p:ext>
            </p:extLst>
          </p:nvPr>
        </p:nvGraphicFramePr>
        <p:xfrm>
          <a:off x="192006" y="5650992"/>
          <a:ext cx="6481121" cy="938351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835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Seguir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com a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validação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das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máquinas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já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entregues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Seguir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com o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preenchimento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das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informações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necessárias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para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realizar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a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criação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/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migração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das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máquinas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da Onda 1 (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em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andamento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) e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nas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demais</a:t>
                      </a:r>
                      <a:r>
                        <a:rPr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ondas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021EECE4-3519-DFCB-224E-DA8DE9C87F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2E2589DE-E8C3-60B0-ABF4-AC3F454A8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22F1DEC5-7367-4D59-D8F3-3B5F53ADBD00}"/>
              </a:ext>
            </a:extLst>
          </p:cNvPr>
          <p:cNvCxnSpPr>
            <a:cxnSpLocks/>
          </p:cNvCxnSpPr>
          <p:nvPr/>
        </p:nvCxnSpPr>
        <p:spPr>
          <a:xfrm flipH="1" flipV="1">
            <a:off x="118564" y="960120"/>
            <a:ext cx="333934" cy="88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67B02A55-9C14-F9BA-FDF6-5666DC384830}"/>
              </a:ext>
            </a:extLst>
          </p:cNvPr>
          <p:cNvSpPr txBox="1"/>
          <p:nvPr/>
        </p:nvSpPr>
        <p:spPr>
          <a:xfrm>
            <a:off x="55556" y="278546"/>
            <a:ext cx="9144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1000" b="1">
                <a:latin typeface="Verdana"/>
                <a:ea typeface="Verdana"/>
                <a:cs typeface="Arial"/>
              </a:rPr>
              <a:t>Resumo: </a:t>
            </a:r>
            <a:r>
              <a:rPr lang="en-US" sz="1050" err="1">
                <a:latin typeface="Verdana"/>
                <a:ea typeface="Verdana"/>
                <a:cs typeface="Arial"/>
              </a:rPr>
              <a:t>Mi</a:t>
            </a:r>
            <a:r>
              <a:rPr lang="en-US" sz="1050" err="1"/>
              <a:t>grar</a:t>
            </a:r>
            <a:r>
              <a:rPr lang="en-US" sz="1050"/>
              <a:t> as 70 VMs e a </a:t>
            </a:r>
            <a:r>
              <a:rPr lang="en-US" sz="1050" err="1"/>
              <a:t>plataforma</a:t>
            </a:r>
            <a:r>
              <a:rPr lang="en-US" sz="1050"/>
              <a:t> Oracle (</a:t>
            </a:r>
            <a:r>
              <a:rPr lang="en-US" sz="1050" err="1"/>
              <a:t>ExaCC</a:t>
            </a:r>
            <a:r>
              <a:rPr lang="en-US" sz="1050"/>
              <a:t> X9M → </a:t>
            </a:r>
            <a:r>
              <a:rPr lang="en-US" sz="1050" err="1"/>
              <a:t>ExaCS</a:t>
            </a:r>
            <a:r>
              <a:rPr lang="en-US" sz="1050"/>
              <a:t> X11M) para OCI com </a:t>
            </a:r>
            <a:r>
              <a:rPr lang="en-US" sz="1050" err="1"/>
              <a:t>virada</a:t>
            </a:r>
            <a:r>
              <a:rPr lang="en-US" sz="1050"/>
              <a:t> </a:t>
            </a:r>
            <a:r>
              <a:rPr lang="en-US" sz="1050" err="1"/>
              <a:t>controlada</a:t>
            </a:r>
            <a:r>
              <a:rPr lang="en-US" sz="1050"/>
              <a:t>, </a:t>
            </a:r>
            <a:r>
              <a:rPr lang="en-US" sz="1050" err="1"/>
              <a:t>proteção</a:t>
            </a:r>
            <a:r>
              <a:rPr lang="en-US" sz="1050"/>
              <a:t> </a:t>
            </a:r>
            <a:r>
              <a:rPr lang="en-US" sz="1050" err="1"/>
              <a:t>contínua</a:t>
            </a:r>
            <a:r>
              <a:rPr lang="en-US" sz="1050"/>
              <a:t> dos dados e novo </a:t>
            </a:r>
            <a:r>
              <a:rPr lang="en-US" sz="1050" err="1"/>
              <a:t>ambiente</a:t>
            </a:r>
            <a:r>
              <a:rPr lang="en-US" sz="1050"/>
              <a:t> de DEV no X9M.</a:t>
            </a:r>
            <a:endParaRPr lang="pt-BR" sz="1000">
              <a:latin typeface="Verdana"/>
              <a:ea typeface="Verdana"/>
              <a:cs typeface="Arial"/>
            </a:endParaRP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2E8C7456-C59D-E981-F3D9-B76ADF3D8588}"/>
              </a:ext>
            </a:extLst>
          </p:cNvPr>
          <p:cNvSpPr txBox="1"/>
          <p:nvPr/>
        </p:nvSpPr>
        <p:spPr>
          <a:xfrm>
            <a:off x="20625" y="492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err="1">
                <a:latin typeface="Verdana"/>
                <a:ea typeface="Verdana"/>
                <a:cs typeface="Arial"/>
              </a:rPr>
              <a:t>SuperVerdemar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068A5FE3-36A9-F2D7-2F00-75F41E3EA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3369" y="5602147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10004205-C6D5-B551-B26B-9E8826A21B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29" y="5324974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B0FE578F-E172-6943-B982-4E0064DDFCB7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04/09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41BFF0A0-852F-9D4C-6A52-A70894193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6002" y="3811724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881BE129-3240-F6EF-DEEB-18CEABA507F7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1D84FFE-AEB6-826A-CEF2-D950F760ADDA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D6F6410-98A0-93A3-0CF8-0442D100A54F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60%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4857CAC-2CAA-9417-A7F3-2E9495E9779A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14CC762-4632-F0A9-FEFE-296C4926B8F7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6882EDD-8687-1F25-1851-19D05973CB99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50%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B50C6586-3880-FF72-DF5C-9CA9F88BCF4C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F7CC124-C1F2-010A-2824-3833945F003C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CEBD3DA-1D8C-2B9C-2B87-404F0010CCD1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83%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CDC55D-1E52-36C8-B7D2-693CCD1C18BC}"/>
              </a:ext>
            </a:extLst>
          </p:cNvPr>
          <p:cNvSpPr/>
          <p:nvPr/>
        </p:nvSpPr>
        <p:spPr>
          <a:xfrm>
            <a:off x="2556177" y="59712"/>
            <a:ext cx="1634373" cy="218834"/>
          </a:xfrm>
          <a:prstGeom prst="roundRect">
            <a:avLst>
              <a:gd name="adj" fmla="val 12586154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AC5AEF7-861D-88D4-2553-B5BA82B455F2}"/>
              </a:ext>
            </a:extLst>
          </p:cNvPr>
          <p:cNvSpPr txBox="1"/>
          <p:nvPr/>
        </p:nvSpPr>
        <p:spPr>
          <a:xfrm>
            <a:off x="2992441" y="32153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dirty="0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Atenção</a:t>
            </a:r>
            <a:endParaRPr lang="en-US" sz="1496" dirty="0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E40D08BE-9242-F081-10CE-A3E11F20341E}"/>
              </a:ext>
            </a:extLst>
          </p:cNvPr>
          <p:cNvGraphicFramePr>
            <a:graphicFrameLocks noGrp="1"/>
          </p:cNvGraphicFramePr>
          <p:nvPr/>
        </p:nvGraphicFramePr>
        <p:xfrm>
          <a:off x="6761679" y="1159185"/>
          <a:ext cx="5118792" cy="25999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Monitoramento /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42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CurvaS">
            <a:extLst>
              <a:ext uri="{FF2B5EF4-FFF2-40B4-BE49-F238E27FC236}">
                <a16:creationId xmlns:a16="http://schemas.microsoft.com/office/drawing/2014/main" id="{B458DA40-7FB1-6933-FE48-55A54522D1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003476"/>
              </p:ext>
            </p:extLst>
          </p:nvPr>
        </p:nvGraphicFramePr>
        <p:xfrm>
          <a:off x="321849" y="2040102"/>
          <a:ext cx="6245990" cy="2452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213448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334E-9A46-A9B3-F591-00194369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31F5069-24E1-6672-DC6A-0BF625AEB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546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71C38840-3FDC-F9F7-66F8-880E2B790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97" y="5184303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BB74B99D-7023-C5F6-26CB-847F46169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02" y="5812583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3AA3B8ED-308C-B45B-9207-B443A8D62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44A816F0-B245-0354-C4EF-D1DC9F1F4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4F8866DC-220F-FD3C-97C6-7CFE44ABA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451184"/>
              </p:ext>
            </p:extLst>
          </p:nvPr>
        </p:nvGraphicFramePr>
        <p:xfrm>
          <a:off x="7046838" y="3699394"/>
          <a:ext cx="4833632" cy="2164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833632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1886830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Configuração do Oracle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GoldenGate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628650" marR="0" lvl="1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Identificação das tabelas que serão replicadas;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Configuração das tabelas de origem;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Configuração do processo de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Extract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(Origem);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Configuração do processo de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Replicat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(Destino);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Parâmetros dos processos de replicação;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Validação da comunicação entre origem e destino;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Hands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on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para cliente iniciar os testes;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2285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02276C56-5A18-1EF0-64EB-2C4EEA122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12635"/>
              </p:ext>
            </p:extLst>
          </p:nvPr>
        </p:nvGraphicFramePr>
        <p:xfrm>
          <a:off x="6772523" y="6051840"/>
          <a:ext cx="4950009" cy="457040"/>
        </p:xfrm>
        <a:graphic>
          <a:graphicData uri="http://schemas.openxmlformats.org/drawingml/2006/table">
            <a:tbl>
              <a:tblPr/>
              <a:tblGrid>
                <a:gridCol w="495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161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Realizar testes e validações. Time Verti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18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24717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F256007B-5EA7-6239-D8E2-D5B4AC685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0002" y="3520417"/>
            <a:ext cx="611410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 dirty="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F54923D3-812C-C2AB-798C-A794C8502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412149"/>
              </p:ext>
            </p:extLst>
          </p:nvPr>
        </p:nvGraphicFramePr>
        <p:xfrm>
          <a:off x="-36489" y="5103517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N/A.</a:t>
                      </a: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89D45BBB-E20F-7C93-E09D-A8250E4650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1F3CE94E-D394-5092-2D9C-3FC6D8DC5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3AE46B91-E03A-A2D3-3122-D7B2494F70B9}"/>
              </a:ext>
            </a:extLst>
          </p:cNvPr>
          <p:cNvCxnSpPr>
            <a:cxnSpLocks/>
          </p:cNvCxnSpPr>
          <p:nvPr/>
        </p:nvCxnSpPr>
        <p:spPr>
          <a:xfrm flipH="1" flipV="1">
            <a:off x="118564" y="960120"/>
            <a:ext cx="333934" cy="88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884E4FC0-704A-D117-67F4-011385CE2504}"/>
              </a:ext>
            </a:extLst>
          </p:cNvPr>
          <p:cNvSpPr txBox="1"/>
          <p:nvPr/>
        </p:nvSpPr>
        <p:spPr>
          <a:xfrm>
            <a:off x="55556" y="278546"/>
            <a:ext cx="914400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sz="900" b="1">
                <a:latin typeface="Verdana"/>
                <a:ea typeface="Verdana"/>
                <a:cs typeface="Arial"/>
              </a:rPr>
              <a:t>Resumo: </a:t>
            </a:r>
            <a:r>
              <a:rPr lang="pt-BR" sz="1050"/>
              <a:t>Preparar um novo ambiente para replicação de banco de dados, contemplando o provisionamento e configuração do servidor, instalação e configuração do Oracle </a:t>
            </a:r>
            <a:r>
              <a:rPr lang="pt-BR" sz="1050" err="1"/>
              <a:t>Database</a:t>
            </a:r>
            <a:r>
              <a:rPr lang="pt-BR" sz="1050"/>
              <a:t>, criação do banco de dados de destino e implantação do Oracle </a:t>
            </a:r>
            <a:r>
              <a:rPr lang="pt-BR" sz="1050" err="1"/>
              <a:t>GoldenGate</a:t>
            </a:r>
            <a:r>
              <a:rPr lang="pt-BR" sz="1050"/>
              <a:t> para replicação entre os ambientes de origem e destino, garantindo a validação inicial da replicação</a:t>
            </a:r>
            <a:endParaRPr lang="pt-BR" sz="1050">
              <a:latin typeface="Verdana"/>
              <a:ea typeface="Verdana"/>
              <a:cs typeface="Arial"/>
            </a:endParaRP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2277911E-4070-C6BB-06B7-E7D31C953229}"/>
              </a:ext>
            </a:extLst>
          </p:cNvPr>
          <p:cNvSpPr txBox="1"/>
          <p:nvPr/>
        </p:nvSpPr>
        <p:spPr>
          <a:xfrm>
            <a:off x="20625" y="492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latin typeface="Verdana"/>
                <a:ea typeface="Verdana"/>
                <a:cs typeface="Arial"/>
              </a:rPr>
              <a:t>Vertti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391CF8A1-4520-504A-E671-B64814883A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5810309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E590A26C-9295-2F5C-7D37-122C963F5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40" y="5170193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9D7E0C08-5E7A-437D-2A8C-071516C53623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04/09/26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7549034F-B928-1607-A388-ACCFA1ACB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042" y="3506220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F67BCADC-F286-71E8-72CE-C30B5D0A6898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D1F04FC-10FD-5916-F4C1-A09A167624F9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B697FFB-7112-F4B7-CB59-ABEF3C991B74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8606A11-96CC-91E5-4AEE-F43F7520603C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1C0BBEB4-A16E-1472-C143-421004FCDE47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E038F3C-F66F-FDAB-88F0-00E51A6913DC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90%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DB5B81A3-CE71-77EC-B0F4-3FD05F24E27A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2FF6160-4907-28B0-FA39-D72CE1293ECD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32F0410-C642-A2CB-610B-A0703723C3DD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3720BC-2F4F-1BD2-106B-96F7DAE5949C}"/>
              </a:ext>
            </a:extLst>
          </p:cNvPr>
          <p:cNvSpPr/>
          <p:nvPr/>
        </p:nvSpPr>
        <p:spPr>
          <a:xfrm>
            <a:off x="957777" y="59712"/>
            <a:ext cx="1634373" cy="218834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289F5E9-87AA-0034-75B0-BB07A80B595D}"/>
              </a:ext>
            </a:extLst>
          </p:cNvPr>
          <p:cNvSpPr txBox="1"/>
          <p:nvPr/>
        </p:nvSpPr>
        <p:spPr>
          <a:xfrm>
            <a:off x="1239056" y="22000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41B2B90D-C161-561E-54F5-1662A594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492849"/>
              </p:ext>
            </p:extLst>
          </p:nvPr>
        </p:nvGraphicFramePr>
        <p:xfrm>
          <a:off x="6874008" y="1320161"/>
          <a:ext cx="5027183" cy="22698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30">
                <a:tc>
                  <a:txBody>
                    <a:bodyPr/>
                    <a:lstStyle/>
                    <a:p>
                      <a:r>
                        <a:rPr lang="pt-BR" sz="1100" b="1" dirty="0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7A8E1911-4066-7515-31D9-B3EE77EAD4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456262"/>
              </p:ext>
            </p:extLst>
          </p:nvPr>
        </p:nvGraphicFramePr>
        <p:xfrm>
          <a:off x="302611" y="2067902"/>
          <a:ext cx="6118200" cy="2539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180370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9B0E-A106-BECF-4EEE-E6B49539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5EA53006-4E3E-7F56-E88A-2A424D795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00" y="16763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D3E0FA16-F2AB-6C34-A2D7-6B5AB4CDA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97" y="5184303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FD2A3868-CA34-D232-2A87-FECCD8708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417" y="5202599"/>
            <a:ext cx="5185387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51C23460-ED8F-8CC3-8201-10F00E29C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29C52619-25F9-9363-847B-97E4399CD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9FEEC4B0-BE76-A893-05F9-FBE80466C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689613"/>
              </p:ext>
            </p:extLst>
          </p:nvPr>
        </p:nvGraphicFramePr>
        <p:xfrm>
          <a:off x="6689757" y="3800574"/>
          <a:ext cx="5185386" cy="1447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185386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1078150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Provisionado VCN HUB GRU;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Criadas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VNICs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Gru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Provisionado CHR GRU;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base +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hardening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CHR gru-01 (serviços off, gestão LAN-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only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, NTP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metadata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);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NSG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stateful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GRU (UDP 500/4500 + ESP) + rota default WAN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2479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3FCB5C6F-D855-A1DE-A6E8-1D67710DF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214641"/>
              </p:ext>
            </p:extLst>
          </p:nvPr>
        </p:nvGraphicFramePr>
        <p:xfrm>
          <a:off x="6772523" y="5448820"/>
          <a:ext cx="4950009" cy="1836878"/>
        </p:xfrm>
        <a:graphic>
          <a:graphicData uri="http://schemas.openxmlformats.org/drawingml/2006/table">
            <a:tbl>
              <a:tblPr/>
              <a:tblGrid>
                <a:gridCol w="495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775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Provisionado VCN HUB VCP;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Criadas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VNICs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VCP;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Provisionado CHR VCP;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base +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hardening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CHR vcp-03 (serviços off, gestão LAN-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only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, NTP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metadata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);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NSG </a:t>
                      </a:r>
                      <a:r>
                        <a:rPr lang="pt-BR" sz="9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stateful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VCP (UDP 500/4500 + ESP) + rota default WAN</a:t>
                      </a: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758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24717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A18F599B-E492-EFF4-3D46-54E2C956A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002" y="3520417"/>
            <a:ext cx="611410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ED10F045-FAE2-FBE2-E91F-E58372A8C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588139"/>
              </p:ext>
            </p:extLst>
          </p:nvPr>
        </p:nvGraphicFramePr>
        <p:xfrm>
          <a:off x="-36489" y="5103517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Adquirir até dia 10/08 as licenças </a:t>
                      </a:r>
                      <a:r>
                        <a:rPr lang="pt-BR" sz="12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Mikrotik</a:t>
                      </a:r>
                      <a:r>
                        <a:rPr lang="pt-BR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CHR P10 para produção GRU e DR VCP, total de duas licenças.</a:t>
                      </a:r>
                      <a:endParaRPr lang="pt-B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A4BFE3CD-1F24-6225-918C-B2C343944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41EB01FD-95A3-E7F2-E4D0-8397DE466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8968998F-8B48-E192-099A-607729C5FFB0}"/>
              </a:ext>
            </a:extLst>
          </p:cNvPr>
          <p:cNvCxnSpPr>
            <a:cxnSpLocks/>
          </p:cNvCxnSpPr>
          <p:nvPr/>
        </p:nvCxnSpPr>
        <p:spPr>
          <a:xfrm flipH="1" flipV="1">
            <a:off x="118564" y="960120"/>
            <a:ext cx="333934" cy="88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CC2334AC-B53C-FA21-19EE-173BD5FBF96E}"/>
              </a:ext>
            </a:extLst>
          </p:cNvPr>
          <p:cNvSpPr txBox="1"/>
          <p:nvPr/>
        </p:nvSpPr>
        <p:spPr>
          <a:xfrm>
            <a:off x="55556" y="278546"/>
            <a:ext cx="91440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sz="900" b="1">
                <a:latin typeface="Verdana"/>
                <a:ea typeface="Verdana"/>
                <a:cs typeface="Arial"/>
              </a:rPr>
              <a:t>Resumo: </a:t>
            </a:r>
            <a:r>
              <a:rPr lang="pt-BR" sz="1050"/>
              <a:t>Configurar a </a:t>
            </a:r>
            <a:r>
              <a:rPr lang="pt-BR" sz="1050" err="1"/>
              <a:t>Tenancy</a:t>
            </a:r>
            <a:r>
              <a:rPr lang="pt-BR" sz="1050"/>
              <a:t> Gateway da Prime DB</a:t>
            </a:r>
            <a:endParaRPr lang="pt-BR" sz="1050">
              <a:latin typeface="Verdana"/>
              <a:ea typeface="Verdana"/>
              <a:cs typeface="Arial"/>
            </a:endParaRP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F974E81E-AD07-D892-10DF-71C86C797222}"/>
              </a:ext>
            </a:extLst>
          </p:cNvPr>
          <p:cNvSpPr txBox="1"/>
          <p:nvPr/>
        </p:nvSpPr>
        <p:spPr>
          <a:xfrm>
            <a:off x="-4200" y="29522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latin typeface="Verdana"/>
                <a:ea typeface="Verdana"/>
                <a:cs typeface="Arial"/>
              </a:rPr>
              <a:t>Prime DB</a:t>
            </a:r>
            <a:endParaRPr lang="pt-BR" sz="1600" b="1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A0F8BD15-A69D-3745-7ABA-0DF2688234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5193616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940CA3D0-E377-7CA8-EBAC-A149683FCB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40" y="5170193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F489603A-4CB7-6D05-C91E-34E61091B347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</a:t>
            </a:r>
            <a:r>
              <a:rPr lang="pt-BR" sz="90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07/08/26</a:t>
            </a:r>
            <a:endParaRPr kumimoji="0" lang="pt-BR" sz="90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57F378BC-445D-6DB9-D6D3-CE3757859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042" y="3463688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70A6BD3E-DECF-DB4C-A27F-DC7A3E042A1E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0CB836A6-0EB5-DCE8-0E25-7E5AF39F20A0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A9B977F-0EB4-7E41-1B35-62F74127EA45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0AA4B045-E627-BFEC-CD5A-EB0BA23BA4E8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7224474-D372-E200-67DD-AD021E6DEE31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E1C5A969-44DD-EC6B-A262-AEAF9E157DA6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7821EDF-3F8D-D1CE-CA9F-9A146CAC0BEC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23888E5C-2982-1BC7-C8CE-99C12B95F9E7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4E78324-4791-B724-A8AB-CCCE8D6BD774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D24AF6-7F16-74E4-8B4F-2B5811FDC30F}"/>
              </a:ext>
            </a:extLst>
          </p:cNvPr>
          <p:cNvSpPr/>
          <p:nvPr/>
        </p:nvSpPr>
        <p:spPr>
          <a:xfrm>
            <a:off x="1860497" y="59712"/>
            <a:ext cx="1634373" cy="218834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D60F7D4-3778-4075-0224-D69397705052}"/>
              </a:ext>
            </a:extLst>
          </p:cNvPr>
          <p:cNvSpPr txBox="1"/>
          <p:nvPr/>
        </p:nvSpPr>
        <p:spPr>
          <a:xfrm>
            <a:off x="2265966" y="40187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7AD0EC8B-C7E0-2A0A-427F-840A5D3D35B5}"/>
              </a:ext>
            </a:extLst>
          </p:cNvPr>
          <p:cNvGraphicFramePr>
            <a:graphicFrameLocks noGrp="1"/>
          </p:cNvGraphicFramePr>
          <p:nvPr/>
        </p:nvGraphicFramePr>
        <p:xfrm>
          <a:off x="6853287" y="1159185"/>
          <a:ext cx="5027183" cy="22698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3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978148F-C80E-4DCB-3B74-6758D07A07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5973581"/>
              </p:ext>
            </p:extLst>
          </p:nvPr>
        </p:nvGraphicFramePr>
        <p:xfrm>
          <a:off x="311530" y="2013243"/>
          <a:ext cx="6144389" cy="2863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138155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16F6B-6B03-5029-9C26-D7CAAFA7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377A67B5-3AE0-1A5E-AE3B-2F5E0519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40" y="278798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BD16A52A-FB9C-A63C-D2C1-FDEA5DF12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97" y="5184303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868C582A-81CC-92A6-DAC4-F39595B42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87" y="5101813"/>
            <a:ext cx="395143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859B8FDA-AD7B-20E4-D110-0B5AEC891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426E0A6F-72DF-2ECF-F2CB-A6CCB6AA5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280AD400-F23D-4626-67EA-CCE94C27E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29390"/>
              </p:ext>
            </p:extLst>
          </p:nvPr>
        </p:nvGraphicFramePr>
        <p:xfrm>
          <a:off x="7009680" y="3776224"/>
          <a:ext cx="4936190" cy="139934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117074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Revisão de parâmetros de memória e logs (Buffer Pool, Log Buffer,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Redo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/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Binary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Logs);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Iniciada o Levantamento da arquitetura e configuração atual do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ProxySQL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7738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B9B6B569-EAE6-A0C5-1E85-1144B2094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734809"/>
              </p:ext>
            </p:extLst>
          </p:nvPr>
        </p:nvGraphicFramePr>
        <p:xfrm>
          <a:off x="6995861" y="5391372"/>
          <a:ext cx="4950009" cy="1894988"/>
        </p:xfrm>
        <a:graphic>
          <a:graphicData uri="http://schemas.openxmlformats.org/drawingml/2006/table">
            <a:tbl>
              <a:tblPr/>
              <a:tblGrid>
                <a:gridCol w="495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250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Dar seguimento no Levantamento da arquitetura e configuração atual do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ProxySQL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Otimização de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replication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threads, connection pool e paralelismo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Implementação dos ajustes aprovados e validação técnica;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Identificação das consultas de maior consumo de recursos;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Recomendações de índices, Full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Table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Scan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e reescrita de consultas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508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24717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B62919E8-D94C-19D8-29E5-F5F3FD02B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002" y="3520417"/>
            <a:ext cx="611410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1667EABC-CF24-21A6-DE62-02263BC39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022253"/>
              </p:ext>
            </p:extLst>
          </p:nvPr>
        </p:nvGraphicFramePr>
        <p:xfrm>
          <a:off x="-36489" y="5103517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7A161E42-01AB-1FA2-CB6E-BBBEC2356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BCA50EB5-A3B8-62BF-9565-CD155A172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3B6732F3-A781-067B-515E-02FCDBE4DA64}"/>
              </a:ext>
            </a:extLst>
          </p:cNvPr>
          <p:cNvCxnSpPr>
            <a:cxnSpLocks/>
          </p:cNvCxnSpPr>
          <p:nvPr/>
        </p:nvCxnSpPr>
        <p:spPr>
          <a:xfrm flipH="1" flipV="1">
            <a:off x="118564" y="960120"/>
            <a:ext cx="333934" cy="88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6A346E93-8972-C42D-4AD7-B6249D972A13}"/>
              </a:ext>
            </a:extLst>
          </p:cNvPr>
          <p:cNvSpPr txBox="1"/>
          <p:nvPr/>
        </p:nvSpPr>
        <p:spPr>
          <a:xfrm>
            <a:off x="4200" y="278798"/>
            <a:ext cx="9144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Verdana"/>
                <a:ea typeface="Verdana"/>
                <a:cs typeface="Arial"/>
              </a:rPr>
              <a:t>Resumo: </a:t>
            </a:r>
            <a:r>
              <a:rPr lang="pt-BR" sz="1000" dirty="0">
                <a:latin typeface="Verdana"/>
                <a:ea typeface="Verdana"/>
                <a:cs typeface="Arial"/>
              </a:rPr>
              <a:t>R</a:t>
            </a:r>
            <a:r>
              <a:rPr lang="pt-BR" sz="1000" dirty="0"/>
              <a:t>ealizar um assessment técnico especializado do ambiente MySQL </a:t>
            </a:r>
            <a:r>
              <a:rPr lang="pt-BR" sz="1000" dirty="0" err="1"/>
              <a:t>HeatWave</a:t>
            </a:r>
            <a:r>
              <a:rPr lang="pt-BR" sz="1000" dirty="0"/>
              <a:t>, identificando as causas da degradação de performance, atrasos na replicação e gargalos operacionais, propondo e implementando otimizações que aumentem a estabilidade, reduzam o tempo de resposta das aplicações e mantenham a replicação dentro do SLA esperado.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9470811C-44EA-C6FF-1DD0-FBC1ED374195}"/>
              </a:ext>
            </a:extLst>
          </p:cNvPr>
          <p:cNvSpPr txBox="1"/>
          <p:nvPr/>
        </p:nvSpPr>
        <p:spPr>
          <a:xfrm>
            <a:off x="-4200" y="29522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latin typeface="Verdana"/>
                <a:ea typeface="Verdana"/>
                <a:cs typeface="Arial"/>
              </a:rPr>
              <a:t>Gob </a:t>
            </a:r>
            <a:r>
              <a:rPr lang="en-US" sz="1600" b="1" dirty="0" err="1">
                <a:latin typeface="Verdana"/>
                <a:ea typeface="Verdana"/>
                <a:cs typeface="Arial"/>
              </a:rPr>
              <a:t>Soluções</a:t>
            </a:r>
            <a:endParaRPr lang="pt-BR" sz="1600" b="1" dirty="0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E794156C-DA92-E8E6-5B44-48CF4EE1C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4635" y="5058475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34166424-1F3A-A691-7CFB-687DEF3EA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40" y="5170193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3AD5D74F-A7C3-C8F8-4BD4-7FA3D8236924}"/>
              </a:ext>
            </a:extLst>
          </p:cNvPr>
          <p:cNvSpPr txBox="1"/>
          <p:nvPr/>
        </p:nvSpPr>
        <p:spPr>
          <a:xfrm>
            <a:off x="10482143" y="6812641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01/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931C8BCF-3C1D-32EF-BF6C-74B57BA51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042" y="3463688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569D1A39-EE9C-0EC6-357A-B3EAFC49375B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3DDF452-BBC3-2E73-8AF6-48134851E3AE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A298B18-7ED2-8909-1416-2E4F6DAA90B3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56%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5DE35DA2-95AF-5D7B-F98E-95C097E5FDDC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511A855-DB59-83DE-D0BC-DDA6965EF914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E9BBDBB-68F7-4152-026B-BD3C3D2CA9B7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39%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688267B9-C910-EA99-1E18-D073A986362E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23ACBDA-5AC0-6B6A-5748-9AF97A0A7E98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A8F08B9-985C-6164-8C6F-C08C90697DA2}"/>
              </a:ext>
            </a:extLst>
          </p:cNvPr>
          <p:cNvSpPr txBox="1"/>
          <p:nvPr/>
        </p:nvSpPr>
        <p:spPr>
          <a:xfrm>
            <a:off x="4215886" y="1563052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70%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FDFD9E-E2A9-E7D3-CCDB-43667141418A}"/>
              </a:ext>
            </a:extLst>
          </p:cNvPr>
          <p:cNvSpPr/>
          <p:nvPr/>
        </p:nvSpPr>
        <p:spPr>
          <a:xfrm>
            <a:off x="1703879" y="83618"/>
            <a:ext cx="1634373" cy="218834"/>
          </a:xfrm>
          <a:prstGeom prst="roundRect">
            <a:avLst>
              <a:gd name="adj" fmla="val 12586154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A3C6532-FF84-DDA9-8DDC-C1D396DDCFF7}"/>
              </a:ext>
            </a:extLst>
          </p:cNvPr>
          <p:cNvSpPr txBox="1"/>
          <p:nvPr/>
        </p:nvSpPr>
        <p:spPr>
          <a:xfrm>
            <a:off x="2109348" y="43321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Atenção</a:t>
            </a:r>
            <a:endParaRPr lang="en-US" sz="1496" dirty="0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1224FE76-7B9D-03BA-B7BC-BDCCCCAEC4D2}"/>
              </a:ext>
            </a:extLst>
          </p:cNvPr>
          <p:cNvGraphicFramePr>
            <a:graphicFrameLocks noGrp="1"/>
          </p:cNvGraphicFramePr>
          <p:nvPr/>
        </p:nvGraphicFramePr>
        <p:xfrm>
          <a:off x="6853287" y="1159185"/>
          <a:ext cx="5027183" cy="22698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3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urvaS">
            <a:extLst>
              <a:ext uri="{FF2B5EF4-FFF2-40B4-BE49-F238E27FC236}">
                <a16:creationId xmlns:a16="http://schemas.microsoft.com/office/drawing/2014/main" id="{B458DA40-7FB1-6933-FE48-55A54522D1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1406190"/>
              </p:ext>
            </p:extLst>
          </p:nvPr>
        </p:nvGraphicFramePr>
        <p:xfrm>
          <a:off x="290808" y="2046131"/>
          <a:ext cx="6203434" cy="2885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101959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E8F1-6F47-8828-9CB8-22E86812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EADB2E1B-E9BF-AB88-C9E4-4EDDD3CBF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21" y="8832"/>
            <a:ext cx="12192000" cy="6858000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EC22B9C4-4776-C03F-44F4-6B3A9761E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97" y="5184303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A6A243BF-4035-1A97-A752-0E3304495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193" y="5220137"/>
            <a:ext cx="395143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64ED7A69-E081-09DE-2EDB-CDEA18B78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EECB6528-9BA3-AAE3-261F-B9C87ED7F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F99E2342-03AA-5A3B-2AF1-E89A8B38D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299974"/>
              </p:ext>
            </p:extLst>
          </p:nvPr>
        </p:nvGraphicFramePr>
        <p:xfrm>
          <a:off x="7019526" y="3736501"/>
          <a:ext cx="4936190" cy="13106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797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Iniciada a escrita de Documentação SRE e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Runbooks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Configurado Container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Scan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com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Trivy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Deploy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do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DefectDojo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Configuração da Plataforma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DefectDojo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.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865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6C10687C-F834-5205-6FB6-76CB24FD3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002" y="3520417"/>
            <a:ext cx="611410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430FD02E-027C-BC3A-A84F-9CC3BDDE9CC8}"/>
              </a:ext>
            </a:extLst>
          </p:cNvPr>
          <p:cNvGraphicFramePr>
            <a:graphicFrameLocks noGrp="1"/>
          </p:cNvGraphicFramePr>
          <p:nvPr/>
        </p:nvGraphicFramePr>
        <p:xfrm>
          <a:off x="-36489" y="5103517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N/A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D50A92A2-2B7F-CFBC-69CF-AEE5C4559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E55A22A4-74C9-A7BF-3D53-BFC7CED0E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53310B42-C358-203A-EF5E-FF0F76111112}"/>
              </a:ext>
            </a:extLst>
          </p:cNvPr>
          <p:cNvCxnSpPr>
            <a:cxnSpLocks/>
          </p:cNvCxnSpPr>
          <p:nvPr/>
        </p:nvCxnSpPr>
        <p:spPr>
          <a:xfrm flipH="1" flipV="1">
            <a:off x="118564" y="960120"/>
            <a:ext cx="333934" cy="88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2DE3C65D-C63F-4874-4946-8C642BD4EFF6}"/>
              </a:ext>
            </a:extLst>
          </p:cNvPr>
          <p:cNvSpPr txBox="1"/>
          <p:nvPr/>
        </p:nvSpPr>
        <p:spPr>
          <a:xfrm>
            <a:off x="4200" y="278798"/>
            <a:ext cx="9144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00" b="1" dirty="0">
                <a:latin typeface="Verdana"/>
                <a:ea typeface="Verdana"/>
                <a:cs typeface="Arial"/>
              </a:rPr>
              <a:t>Resumo: </a:t>
            </a:r>
            <a:r>
              <a:rPr lang="pt-BR" sz="900" dirty="0"/>
              <a:t>Executar melhorias técnicas no ambiente de </a:t>
            </a:r>
            <a:r>
              <a:rPr lang="pt-BR" sz="900" dirty="0" err="1"/>
              <a:t>observabilidade</a:t>
            </a:r>
            <a:r>
              <a:rPr lang="pt-BR" sz="900" dirty="0"/>
              <a:t>, alertas, automação de pipelines, validação e automação de </a:t>
            </a:r>
            <a:r>
              <a:rPr lang="pt-BR" sz="900" dirty="0" err="1"/>
              <a:t>rollback</a:t>
            </a:r>
            <a:r>
              <a:rPr lang="pt-BR" sz="900" dirty="0"/>
              <a:t>, documentação SRE, segurança de aplicações e integração de ferramentas de </a:t>
            </a:r>
            <a:r>
              <a:rPr lang="pt-BR" sz="900" dirty="0" err="1"/>
              <a:t>scan</a:t>
            </a:r>
            <a:r>
              <a:rPr lang="pt-BR" sz="900" dirty="0"/>
              <a:t>, visando aumentar a maturidade operacional, melhorar a capacidade de detecção e resposta a incidentes e elevar a segurança do ciclo de entrega das aplicações.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6735DBE3-DA6D-636F-E015-2B00FC3A30DC}"/>
              </a:ext>
            </a:extLst>
          </p:cNvPr>
          <p:cNvSpPr txBox="1"/>
          <p:nvPr/>
        </p:nvSpPr>
        <p:spPr>
          <a:xfrm>
            <a:off x="4200" y="-30633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latin typeface="Verdana"/>
                <a:ea typeface="Verdana"/>
                <a:cs typeface="Arial"/>
              </a:rPr>
              <a:t>Vision One</a:t>
            </a:r>
            <a:endParaRPr lang="pt-BR" sz="1600" b="1" dirty="0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6D287A6B-E5BB-6E9D-77DF-D43AEFDFD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5193616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8416FD42-BFEB-CFF7-766B-6646DEABA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40" y="5170193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6B2685BF-A31E-BC10-CA9E-1408C79FBF12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E884CF90-788B-B57F-EC4B-DB77EF009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042" y="3463688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A0B322F1-06CC-310E-4751-4A7EFD94669B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96FF0EF-58A1-7A35-C1CC-2395B9572C63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9BF517A3-B995-8F30-9518-039FC9B391DF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39%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959D9C4B-FBFB-872F-D025-37C36D7D110D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474B419-2D2E-DEB8-0F3A-6FC92255BFCF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74EB17F-4437-C923-704E-895EDEFA5DD8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62%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4C1FA5B2-E073-1675-C9C9-A4674C9DBD6B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42FD66CA-77DF-737F-794E-AE15F20089BE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D9DB7AF9-B1EA-3868-79CB-9ADF6A0AA8ED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158%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890570-6C67-C6CE-5401-C0F1E36903EB}"/>
              </a:ext>
            </a:extLst>
          </p:cNvPr>
          <p:cNvSpPr/>
          <p:nvPr/>
        </p:nvSpPr>
        <p:spPr>
          <a:xfrm>
            <a:off x="1703881" y="73604"/>
            <a:ext cx="1634373" cy="218834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DE90A91-1968-7075-61F7-859872D1D0BD}"/>
              </a:ext>
            </a:extLst>
          </p:cNvPr>
          <p:cNvSpPr txBox="1"/>
          <p:nvPr/>
        </p:nvSpPr>
        <p:spPr>
          <a:xfrm>
            <a:off x="2109348" y="43321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dirty="0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 dirty="0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BFC56654-0319-7230-7E6B-0629FC33F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373410"/>
              </p:ext>
            </p:extLst>
          </p:nvPr>
        </p:nvGraphicFramePr>
        <p:xfrm>
          <a:off x="6894499" y="1301231"/>
          <a:ext cx="5027183" cy="22698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3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5ACF1D1-47F7-A321-ED41-D7433B845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371588"/>
              </p:ext>
            </p:extLst>
          </p:nvPr>
        </p:nvGraphicFramePr>
        <p:xfrm>
          <a:off x="7006614" y="5522088"/>
          <a:ext cx="4936190" cy="110837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797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Dar seguimento na escrita de Documentação SRE e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Runbooks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CI/CD —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Rollback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Automatizado com Argo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Rollouts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Simulação e Testes de Reversão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865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5" name="CurvaS">
            <a:extLst>
              <a:ext uri="{FF2B5EF4-FFF2-40B4-BE49-F238E27FC236}">
                <a16:creationId xmlns:a16="http://schemas.microsoft.com/office/drawing/2014/main" id="{B458DA40-7FB1-6933-FE48-55A54522D1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1615628"/>
              </p:ext>
            </p:extLst>
          </p:nvPr>
        </p:nvGraphicFramePr>
        <p:xfrm>
          <a:off x="285531" y="2046273"/>
          <a:ext cx="6159101" cy="2386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4119200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028C-EE47-6D5E-BF21-FED8710E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E6D758B-D015-F616-7AB4-6E679E07D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89" y="-10633"/>
            <a:ext cx="12228490" cy="7113181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EBF67B7D-1EB9-20F2-3684-4511EFCC4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97" y="5184303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E60628E9-C23D-66B6-92A7-7D4A2D932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193" y="5220137"/>
            <a:ext cx="395143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CA0BFF52-F4D4-5D9C-FAC4-72281A673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80309A01-2983-91C9-07C2-062401DD5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6C14FEDF-8D21-BEF2-AC6E-8F2376DE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433675"/>
              </p:ext>
            </p:extLst>
          </p:nvPr>
        </p:nvGraphicFramePr>
        <p:xfrm>
          <a:off x="7006614" y="3587786"/>
          <a:ext cx="4936190" cy="110837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797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Kick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Off (24/08/26)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Levantamento Técnico (25/08/26);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865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C7BE63AA-5DAF-505E-975B-4F6DDD231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002" y="3520417"/>
            <a:ext cx="611410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04189C49-09CC-7D9A-8992-B05F74F88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341809"/>
              </p:ext>
            </p:extLst>
          </p:nvPr>
        </p:nvGraphicFramePr>
        <p:xfrm>
          <a:off x="-36489" y="5103517"/>
          <a:ext cx="6481121" cy="1143729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72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Criar e validar acessos do time do time da Prime DB na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tenant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Azure </a:t>
                      </a:r>
                      <a:r>
                        <a:rPr lang="pt-B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da Triunfo.</a:t>
                      </a: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300559F8-6437-565F-7E6F-92B855CF7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B484545B-C2F2-65D1-153D-B0A3CEC59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26982255-4773-C321-5A74-44FC8C5BA93F}"/>
              </a:ext>
            </a:extLst>
          </p:cNvPr>
          <p:cNvCxnSpPr>
            <a:cxnSpLocks/>
          </p:cNvCxnSpPr>
          <p:nvPr/>
        </p:nvCxnSpPr>
        <p:spPr>
          <a:xfrm flipV="1">
            <a:off x="452498" y="853204"/>
            <a:ext cx="98108" cy="1951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093AC704-4F3C-229B-406C-CADB523FFC6A}"/>
              </a:ext>
            </a:extLst>
          </p:cNvPr>
          <p:cNvSpPr txBox="1"/>
          <p:nvPr/>
        </p:nvSpPr>
        <p:spPr>
          <a:xfrm>
            <a:off x="4200" y="278798"/>
            <a:ext cx="914400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latin typeface="Verdana"/>
                <a:ea typeface="Verdana"/>
                <a:cs typeface="Arial"/>
              </a:rPr>
              <a:t>Resumo: </a:t>
            </a:r>
            <a:r>
              <a:rPr lang="pt-BR" sz="900" dirty="0"/>
              <a:t>Implementar uma plataforma moderna, segura e escalável no Microsoft Azure para hospedagem da aplicação da TRILOG, contemplando a implantação da infraestrutura em nuvem, a modernização do processo de entrega das aplicações por meio de Azure </a:t>
            </a:r>
            <a:r>
              <a:rPr lang="pt-BR" sz="900" dirty="0" err="1"/>
              <a:t>DevOps</a:t>
            </a:r>
            <a:r>
              <a:rPr lang="pt-BR" sz="900" dirty="0"/>
              <a:t> e </a:t>
            </a:r>
            <a:r>
              <a:rPr lang="pt-BR" sz="900" dirty="0" err="1"/>
              <a:t>Kubernetes</a:t>
            </a:r>
            <a:r>
              <a:rPr lang="pt-BR" sz="900" dirty="0"/>
              <a:t>, além da migração dos bancos de dados MySQL, proporcionando maior confiabilidade operacional, padronização dos ambientes, agilidade nas implantações e uma base tecnológica preparada para evolução contínua da solução. 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B04D2DAC-9B14-8EBD-9955-2E455746325C}"/>
              </a:ext>
            </a:extLst>
          </p:cNvPr>
          <p:cNvSpPr txBox="1"/>
          <p:nvPr/>
        </p:nvSpPr>
        <p:spPr>
          <a:xfrm>
            <a:off x="-4200" y="29522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latin typeface="Verdana"/>
                <a:ea typeface="Verdana"/>
                <a:cs typeface="Arial"/>
              </a:rPr>
              <a:t>Triunfo </a:t>
            </a:r>
            <a:r>
              <a:rPr lang="en-US" sz="1600" b="1" dirty="0" err="1">
                <a:latin typeface="Verdana"/>
                <a:ea typeface="Verdana"/>
                <a:cs typeface="Arial"/>
              </a:rPr>
              <a:t>Logística</a:t>
            </a:r>
            <a:endParaRPr lang="pt-BR" sz="1600" b="1" dirty="0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0766B041-0021-217A-5E96-C0A77855C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5193616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390425B1-68BA-F143-6B37-7825B3329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40" y="5170193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3C15372B-B300-F0EA-19C3-31A5996C418A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04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/09/26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2036926B-4505-3EF8-56FC-D2D78444A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042" y="3463688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69E83638-FEC5-5F20-DEDC-158F508310FB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714883F-79D0-5E8D-D29F-869D6DF450B3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34C93EF-1E66-101C-69C3-3DBA58314FD0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17%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9219B8B3-DF56-3CE3-B70C-C0AE08BB60ED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87D2CC2-43D1-614F-C7CD-A0897FD7ACC7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4EF2C21-4827-9C1D-9DD3-8DCF4FA99038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7%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D869663E-B71A-8735-EF24-815EFD7629A1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943A6CAA-26C9-25DF-3921-3D7BDA52A201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811C482-8387-CA28-B880-0E22C165A8FC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41%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1FF380-B279-EEBC-C4A1-55A15BA5A61D}"/>
              </a:ext>
            </a:extLst>
          </p:cNvPr>
          <p:cNvSpPr/>
          <p:nvPr/>
        </p:nvSpPr>
        <p:spPr>
          <a:xfrm>
            <a:off x="2129183" y="92138"/>
            <a:ext cx="1634373" cy="218834"/>
          </a:xfrm>
          <a:prstGeom prst="roundRect">
            <a:avLst>
              <a:gd name="adj" fmla="val 12586154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8EE96123-5467-6A65-E44C-A7710B1EA578}"/>
              </a:ext>
            </a:extLst>
          </p:cNvPr>
          <p:cNvSpPr txBox="1"/>
          <p:nvPr/>
        </p:nvSpPr>
        <p:spPr>
          <a:xfrm>
            <a:off x="2432740" y="90905"/>
            <a:ext cx="1027257" cy="218834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dirty="0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Atrasado</a:t>
            </a:r>
            <a:endParaRPr lang="en-US" sz="1496" dirty="0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F3562614-D5CD-FC6B-4ED0-DE32383E40F5}"/>
              </a:ext>
            </a:extLst>
          </p:cNvPr>
          <p:cNvGraphicFramePr>
            <a:graphicFrameLocks noGrp="1"/>
          </p:cNvGraphicFramePr>
          <p:nvPr/>
        </p:nvGraphicFramePr>
        <p:xfrm>
          <a:off x="6853287" y="1159185"/>
          <a:ext cx="5027183" cy="22698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3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B42642A-508D-A20C-3147-BD4B3FEE6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409452"/>
              </p:ext>
            </p:extLst>
          </p:nvPr>
        </p:nvGraphicFramePr>
        <p:xfrm>
          <a:off x="7006614" y="5522088"/>
          <a:ext cx="4936190" cy="110837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8797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Validação das premissas e pré-requisitos (Azure contratado, acessos)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Definição da estratégia de endereçamento de rede (CIDR)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Segmentação de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sub-redes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e modelo de acesso aos recursos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1865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5" name="CurvaS">
            <a:extLst>
              <a:ext uri="{FF2B5EF4-FFF2-40B4-BE49-F238E27FC236}">
                <a16:creationId xmlns:a16="http://schemas.microsoft.com/office/drawing/2014/main" id="{B458DA40-7FB1-6933-FE48-55A54522D1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7967673"/>
              </p:ext>
            </p:extLst>
          </p:nvPr>
        </p:nvGraphicFramePr>
        <p:xfrm>
          <a:off x="339417" y="2051969"/>
          <a:ext cx="6116502" cy="282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317886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FCAC-68C6-FBFC-5B0F-F15A0CC2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00D12611-A25A-745D-22E4-D1457AA25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89" y="-10633"/>
            <a:ext cx="12228490" cy="7113181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45776D4E-9089-88B3-D4CF-E432CEFAF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14" y="4866902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 dirty="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dirty="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6CA33A19-BE7F-0700-8BE5-DD082E83D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528" y="4719975"/>
            <a:ext cx="395143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B7215C5C-DF1E-14B5-6AEB-55B3838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C2E64C46-FF7D-0834-F37E-2A92FCE36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043B729E-CA02-1AFC-57D8-3F06A382E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70037"/>
              </p:ext>
            </p:extLst>
          </p:nvPr>
        </p:nvGraphicFramePr>
        <p:xfrm>
          <a:off x="7011417" y="3721393"/>
          <a:ext cx="4936190" cy="1021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773721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Kick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Off (27/08/26);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Sincronizado File Server 01 e 03;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Acesso o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Vcenter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para refinamento de inventário das máquinas que serão migradas.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0104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BD95AB2D-AD39-2B2A-0207-5BEBA9324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002" y="3520417"/>
            <a:ext cx="611410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D8D62E39-6F05-4579-C833-F9928245B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594153"/>
              </p:ext>
            </p:extLst>
          </p:nvPr>
        </p:nvGraphicFramePr>
        <p:xfrm>
          <a:off x="118564" y="5150301"/>
          <a:ext cx="6481121" cy="731462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4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Ambiente do cliente não possui backup dos dados, então foi priorizada a atividade de realizar backup, tanto via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Veeam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quanto via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rackware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.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52D777A2-5623-CB2A-BE76-E00940EB23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1D1D9CDB-AA80-557A-D3AD-01CE12742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E7895E3A-DF33-7F67-4A82-8F993D13608A}"/>
              </a:ext>
            </a:extLst>
          </p:cNvPr>
          <p:cNvCxnSpPr>
            <a:cxnSpLocks/>
          </p:cNvCxnSpPr>
          <p:nvPr/>
        </p:nvCxnSpPr>
        <p:spPr>
          <a:xfrm flipH="1" flipV="1">
            <a:off x="118564" y="960120"/>
            <a:ext cx="333934" cy="88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DDF07A79-5825-5B09-EACF-89EFEC2C1801}"/>
              </a:ext>
            </a:extLst>
          </p:cNvPr>
          <p:cNvSpPr txBox="1"/>
          <p:nvPr/>
        </p:nvSpPr>
        <p:spPr>
          <a:xfrm>
            <a:off x="4200" y="278798"/>
            <a:ext cx="91440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latin typeface="Verdana"/>
                <a:ea typeface="Verdana"/>
                <a:cs typeface="Arial"/>
              </a:rPr>
              <a:t>Resumo: </a:t>
            </a:r>
            <a:r>
              <a:rPr lang="pt-BR" sz="900" dirty="0"/>
              <a:t>Realizar a migração de +- 90 </a:t>
            </a:r>
            <a:r>
              <a:rPr lang="pt-BR" sz="900" dirty="0" err="1"/>
              <a:t>VM’s</a:t>
            </a:r>
            <a:r>
              <a:rPr lang="pt-BR" sz="900" dirty="0"/>
              <a:t> + Banco de Dados </a:t>
            </a:r>
            <a:r>
              <a:rPr lang="pt-BR" sz="900" dirty="0" err="1"/>
              <a:t>Exadata</a:t>
            </a:r>
            <a:r>
              <a:rPr lang="pt-BR" sz="900" dirty="0"/>
              <a:t> X11M. </a:t>
            </a:r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F8538F1B-4B64-73CB-E507-4CDE45B055B0}"/>
              </a:ext>
            </a:extLst>
          </p:cNvPr>
          <p:cNvSpPr txBox="1"/>
          <p:nvPr/>
        </p:nvSpPr>
        <p:spPr>
          <a:xfrm>
            <a:off x="-4200" y="29522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err="1">
                <a:latin typeface="Verdana"/>
                <a:ea typeface="Verdana"/>
                <a:cs typeface="Arial"/>
              </a:rPr>
              <a:t>Ferragens</a:t>
            </a:r>
            <a:r>
              <a:rPr lang="en-US" sz="1600" b="1" dirty="0">
                <a:latin typeface="Verdana"/>
                <a:ea typeface="Verdana"/>
                <a:cs typeface="Arial"/>
              </a:rPr>
              <a:t> Negrão</a:t>
            </a:r>
            <a:endParaRPr lang="pt-BR" sz="1600" b="1" dirty="0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3D3693A2-E728-AB95-9948-0C8C71FF2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4717782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F281BE80-D8AC-ABC2-8E07-BEB420026D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40" y="4894889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5B58DE0B-2174-6AD9-D7DE-F24212AEC5AB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28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/08/26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F64AD680-EA36-1BDC-F7CE-A56B0C75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042" y="3463688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8A478367-69FB-A002-B57C-98B8ED6EFBCB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D8A2811-3FB2-CC01-7A4F-22916DF7791D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9E196F2-CCAC-8FB4-C28C-766902F4E3E2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D3532F60-151C-7C3A-5873-696CC93AA027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9DA253E-6265-D175-B7FC-AFE484DE7F38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E545A9BA-B623-6CC6-F0E5-880119D3EE6E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5E81DFA-A3A6-5D44-7558-217A6C624410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2A8D31DE-09F8-46C6-298F-85B23CBFDA45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860441E-57C5-67CA-D940-DFAD68038823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200854-AD45-7E4E-2D47-9D8DCE3ADB15}"/>
              </a:ext>
            </a:extLst>
          </p:cNvPr>
          <p:cNvSpPr/>
          <p:nvPr/>
        </p:nvSpPr>
        <p:spPr>
          <a:xfrm>
            <a:off x="2198008" y="92138"/>
            <a:ext cx="1634373" cy="218834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8319B501-7B53-EEB8-AAF5-DE369D62B2F5}"/>
              </a:ext>
            </a:extLst>
          </p:cNvPr>
          <p:cNvSpPr txBox="1"/>
          <p:nvPr/>
        </p:nvSpPr>
        <p:spPr>
          <a:xfrm>
            <a:off x="2603475" y="61855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dirty="0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 dirty="0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1536B7BD-8262-D1AB-8410-A7B0EE637BA1}"/>
              </a:ext>
            </a:extLst>
          </p:cNvPr>
          <p:cNvGraphicFramePr>
            <a:graphicFrameLocks noGrp="1"/>
          </p:cNvGraphicFramePr>
          <p:nvPr/>
        </p:nvGraphicFramePr>
        <p:xfrm>
          <a:off x="6853287" y="1159185"/>
          <a:ext cx="5027183" cy="22698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3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53F167E-ECA4-CEA8-A6FE-EC4D255D5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642493"/>
              </p:ext>
            </p:extLst>
          </p:nvPr>
        </p:nvGraphicFramePr>
        <p:xfrm>
          <a:off x="7075233" y="4990013"/>
          <a:ext cx="4936190" cy="1661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7927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Sincronizar File Server 02;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Configurar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rackware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para sincronizar máquinas e gerar backup das mesmas no OCI;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Realizar refinamento das máquinas a serem migradas;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Criar Servidor de AD no OCI e iniciar sincronismo com o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onpremisse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0599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5" name="Tabela 40">
            <a:extLst>
              <a:ext uri="{FF2B5EF4-FFF2-40B4-BE49-F238E27FC236}">
                <a16:creationId xmlns:a16="http://schemas.microsoft.com/office/drawing/2014/main" id="{6B8C35C9-D992-4A52-92A0-6499DCFF6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061572"/>
              </p:ext>
            </p:extLst>
          </p:nvPr>
        </p:nvGraphicFramePr>
        <p:xfrm>
          <a:off x="231244" y="2484079"/>
          <a:ext cx="6068402" cy="788654"/>
        </p:xfrm>
        <a:graphic>
          <a:graphicData uri="http://schemas.openxmlformats.org/drawingml/2006/table">
            <a:tbl>
              <a:tblPr/>
              <a:tblGrid>
                <a:gridCol w="606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65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Projeto em levantamento e planejamento das ondas de migração para geração do cronograma.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227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3DA8-302D-5AA6-FAE1-D7274572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29701CB-2624-3AC6-7782-CD77D7316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89" y="-10633"/>
            <a:ext cx="12228490" cy="7113181"/>
          </a:xfrm>
          <a:prstGeom prst="rect">
            <a:avLst/>
          </a:prstGeom>
        </p:spPr>
      </p:pic>
      <p:sp>
        <p:nvSpPr>
          <p:cNvPr id="19" name="CaixaDeTexto 26">
            <a:extLst>
              <a:ext uri="{FF2B5EF4-FFF2-40B4-BE49-F238E27FC236}">
                <a16:creationId xmlns:a16="http://schemas.microsoft.com/office/drawing/2014/main" id="{6403BC06-2BB8-653C-2564-C31870908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14" y="4866902"/>
            <a:ext cx="6405228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Riscos </a:t>
            </a:r>
            <a:r>
              <a:rPr kumimoji="0" lang="en-US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/ Pontos de </a:t>
            </a:r>
            <a:r>
              <a:rPr lang="en-US" altLang="pt-BR" sz="1000" dirty="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A</a:t>
            </a:r>
            <a:r>
              <a:rPr kumimoji="0" lang="en-US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ten</a:t>
            </a:r>
            <a:r>
              <a:rPr lang="en-US" altLang="pt-BR" sz="1000" dirty="0" err="1">
                <a:solidFill>
                  <a:schemeClr val="tx1"/>
                </a:solidFill>
                <a:latin typeface="Verdana"/>
                <a:ea typeface="Verdana"/>
                <a:cs typeface="Arial"/>
              </a:rPr>
              <a:t>ção</a:t>
            </a:r>
            <a:endParaRPr kumimoji="0" lang="pt-BR" alt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sp>
        <p:nvSpPr>
          <p:cNvPr id="12" name="CaixaDeTexto 26">
            <a:extLst>
              <a:ext uri="{FF2B5EF4-FFF2-40B4-BE49-F238E27FC236}">
                <a16:creationId xmlns:a16="http://schemas.microsoft.com/office/drawing/2014/main" id="{3135433E-0467-F799-3E1D-085871A8E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528" y="4719975"/>
            <a:ext cx="395143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  </a:t>
            </a:r>
            <a:r>
              <a:rPr kumimoji="0" lang="pt-BR" alt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Atividades em Andamento </a:t>
            </a:r>
          </a:p>
        </p:txBody>
      </p:sp>
      <p:sp>
        <p:nvSpPr>
          <p:cNvPr id="2" name="CaixaDeTexto 26">
            <a:extLst>
              <a:ext uri="{FF2B5EF4-FFF2-40B4-BE49-F238E27FC236}">
                <a16:creationId xmlns:a16="http://schemas.microsoft.com/office/drawing/2014/main" id="{F55EE3C7-4CC4-7FA6-04CE-AF3AD6F6D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85" y="806159"/>
            <a:ext cx="220494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Entregas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26">
            <a:extLst>
              <a:ext uri="{FF2B5EF4-FFF2-40B4-BE49-F238E27FC236}">
                <a16:creationId xmlns:a16="http://schemas.microsoft.com/office/drawing/2014/main" id="{85E8CD10-4B62-2C63-95FE-79DD7AEDA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44" y="853204"/>
            <a:ext cx="456911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Progresso do Projeto</a:t>
            </a: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60639350-4BF0-2FBD-999C-5BC116317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101465"/>
              </p:ext>
            </p:extLst>
          </p:nvPr>
        </p:nvGraphicFramePr>
        <p:xfrm>
          <a:off x="7011417" y="3721393"/>
          <a:ext cx="4936190" cy="100232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773721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Migrada a máquina s076lweb01 como teste para seguir com as demais.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0104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sp>
        <p:nvSpPr>
          <p:cNvPr id="31" name="CaixaDeTexto 26">
            <a:extLst>
              <a:ext uri="{FF2B5EF4-FFF2-40B4-BE49-F238E27FC236}">
                <a16:creationId xmlns:a16="http://schemas.microsoft.com/office/drawing/2014/main" id="{B454E125-F804-628C-8509-3666EE2B2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002" y="3520417"/>
            <a:ext cx="6114102" cy="246221"/>
          </a:xfrm>
          <a:prstGeom prst="rect">
            <a:avLst/>
          </a:prstGeom>
          <a:solidFill>
            <a:schemeClr val="accent3">
              <a:alpha val="5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  <a:defRPr sz="900" b="1">
                <a:solidFill>
                  <a:srgbClr val="002855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rgbClr val="9B5B1B"/>
                </a:solidFill>
                <a:effectLst/>
                <a:uLnTx/>
                <a:uFillTx/>
                <a:latin typeface="Verdana"/>
                <a:ea typeface="Verdana"/>
                <a:cs typeface="Arial"/>
              </a:rPr>
              <a:t>  </a:t>
            </a:r>
            <a:r>
              <a:rPr lang="pt-BR" altLang="pt-BR" sz="1000">
                <a:solidFill>
                  <a:schemeClr val="tx1"/>
                </a:solidFill>
                <a:latin typeface="Verdana"/>
                <a:ea typeface="Verdana"/>
                <a:cs typeface="Arial"/>
              </a:rPr>
              <a:t>Principais Conquistas 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Verdana"/>
              <a:cs typeface="Arial"/>
            </a:endParaRPr>
          </a:p>
        </p:txBody>
      </p: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DF2D2580-9A65-BE83-455A-99A206130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794177"/>
              </p:ext>
            </p:extLst>
          </p:nvPr>
        </p:nvGraphicFramePr>
        <p:xfrm>
          <a:off x="118564" y="5150301"/>
          <a:ext cx="6481121" cy="731462"/>
        </p:xfrm>
        <a:graphic>
          <a:graphicData uri="http://schemas.openxmlformats.org/drawingml/2006/table">
            <a:tbl>
              <a:tblPr/>
              <a:tblGrid>
                <a:gridCol w="64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4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indent="-171450" algn="l">
                        <a:buFont typeface="Wingdings" pitchFamily="2" charset="2"/>
                        <a:buChar char="ü"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Banda WAN insuficiente, fazendo com que a migração das </a:t>
                      </a:r>
                      <a:r>
                        <a:rPr lang="pt-B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VM’s</a:t>
                      </a: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 demore mais.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Gráfico 24" descr="Engrenagens estrutura de tópicos">
            <a:extLst>
              <a:ext uri="{FF2B5EF4-FFF2-40B4-BE49-F238E27FC236}">
                <a16:creationId xmlns:a16="http://schemas.microsoft.com/office/drawing/2014/main" id="{8765ADF6-93B7-3703-1591-1A57579EE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839" y="767207"/>
            <a:ext cx="423689" cy="423689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95EC9CE1-8EBE-1125-BA83-901FFA337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054" y="675597"/>
            <a:ext cx="945101" cy="554809"/>
          </a:xfrm>
          <a:prstGeom prst="rect">
            <a:avLst/>
          </a:prstGeom>
        </p:spPr>
      </p:pic>
      <p:cxnSp>
        <p:nvCxnSpPr>
          <p:cNvPr id="13" name="Conector de Seta Reta 6">
            <a:extLst>
              <a:ext uri="{FF2B5EF4-FFF2-40B4-BE49-F238E27FC236}">
                <a16:creationId xmlns:a16="http://schemas.microsoft.com/office/drawing/2014/main" id="{A54D137F-6F8F-DD6D-B080-A0B1F7B94E81}"/>
              </a:ext>
            </a:extLst>
          </p:cNvPr>
          <p:cNvCxnSpPr>
            <a:cxnSpLocks/>
          </p:cNvCxnSpPr>
          <p:nvPr/>
        </p:nvCxnSpPr>
        <p:spPr>
          <a:xfrm flipH="1" flipV="1">
            <a:off x="118564" y="960120"/>
            <a:ext cx="333934" cy="88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72">
            <a:extLst>
              <a:ext uri="{FF2B5EF4-FFF2-40B4-BE49-F238E27FC236}">
                <a16:creationId xmlns:a16="http://schemas.microsoft.com/office/drawing/2014/main" id="{38AF6192-CB67-56EA-E7AF-197F7422320D}"/>
              </a:ext>
            </a:extLst>
          </p:cNvPr>
          <p:cNvSpPr txBox="1"/>
          <p:nvPr/>
        </p:nvSpPr>
        <p:spPr>
          <a:xfrm>
            <a:off x="4200" y="278798"/>
            <a:ext cx="9144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latin typeface="Verdana"/>
                <a:ea typeface="Verdana"/>
                <a:cs typeface="Arial"/>
              </a:rPr>
              <a:t>Resumo: </a:t>
            </a:r>
            <a:r>
              <a:rPr lang="pt-BR" sz="9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Migrar o ambiente </a:t>
            </a:r>
            <a:r>
              <a:rPr lang="pt-BR" sz="900" dirty="0" err="1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on-premises</a:t>
            </a:r>
            <a:r>
              <a:rPr lang="pt-BR" sz="9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a Oracle Cloud </a:t>
            </a:r>
            <a:r>
              <a:rPr lang="pt-BR" sz="900" dirty="0" err="1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Infrastructure</a:t>
            </a:r>
            <a:r>
              <a:rPr lang="pt-BR" sz="9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DR </a:t>
            </a:r>
            <a:r>
              <a:rPr lang="pt-BR" sz="900" dirty="0" err="1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cross-region</a:t>
            </a:r>
            <a:r>
              <a:rPr lang="pt-BR" sz="9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pt-BR" sz="900" dirty="0" err="1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right-size</a:t>
            </a:r>
            <a:r>
              <a:rPr lang="pt-BR" sz="900" dirty="0">
                <a:solidFill>
                  <a:srgbClr val="5959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pelo consumo real</a:t>
            </a:r>
          </a:p>
          <a:p>
            <a:endParaRPr lang="pt-BR" sz="900" dirty="0"/>
          </a:p>
        </p:txBody>
      </p:sp>
      <p:sp>
        <p:nvSpPr>
          <p:cNvPr id="21" name="CaixaDeTexto 91">
            <a:extLst>
              <a:ext uri="{FF2B5EF4-FFF2-40B4-BE49-F238E27FC236}">
                <a16:creationId xmlns:a16="http://schemas.microsoft.com/office/drawing/2014/main" id="{52A29823-CF90-08FD-3C01-56E69B3EB44A}"/>
              </a:ext>
            </a:extLst>
          </p:cNvPr>
          <p:cNvSpPr txBox="1"/>
          <p:nvPr/>
        </p:nvSpPr>
        <p:spPr>
          <a:xfrm>
            <a:off x="-4200" y="29522"/>
            <a:ext cx="574182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latin typeface="Verdana"/>
                <a:ea typeface="Verdana"/>
                <a:cs typeface="Arial"/>
              </a:rPr>
              <a:t>Unimed </a:t>
            </a:r>
            <a:r>
              <a:rPr lang="en-US" sz="1600" b="1" dirty="0" err="1">
                <a:latin typeface="Verdana"/>
                <a:ea typeface="Verdana"/>
                <a:cs typeface="Arial"/>
              </a:rPr>
              <a:t>Guarapuava</a:t>
            </a:r>
            <a:endParaRPr lang="pt-BR" sz="1600" b="1" dirty="0">
              <a:latin typeface="Verdana"/>
              <a:ea typeface="Verdana"/>
              <a:cs typeface="Arial"/>
            </a:endParaRPr>
          </a:p>
        </p:txBody>
      </p:sp>
      <p:pic>
        <p:nvPicPr>
          <p:cNvPr id="29" name="Gráfico 11" descr="Setas de Divisão com preenchimento sólido">
            <a:extLst>
              <a:ext uri="{FF2B5EF4-FFF2-40B4-BE49-F238E27FC236}">
                <a16:creationId xmlns:a16="http://schemas.microsoft.com/office/drawing/2014/main" id="{F557950B-E68E-B4C0-DD86-B67493DFB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4002" y="4717782"/>
            <a:ext cx="252000" cy="252000"/>
          </a:xfrm>
          <a:prstGeom prst="rect">
            <a:avLst/>
          </a:prstGeom>
        </p:spPr>
      </p:pic>
      <p:pic>
        <p:nvPicPr>
          <p:cNvPr id="34" name="Gráfico 59" descr="Aviso com preenchimento sólido">
            <a:extLst>
              <a:ext uri="{FF2B5EF4-FFF2-40B4-BE49-F238E27FC236}">
                <a16:creationId xmlns:a16="http://schemas.microsoft.com/office/drawing/2014/main" id="{9254B808-F2CB-7394-0470-57F1AF0D9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40" y="4894889"/>
            <a:ext cx="216000" cy="240327"/>
          </a:xfrm>
          <a:prstGeom prst="rect">
            <a:avLst/>
          </a:prstGeom>
        </p:spPr>
      </p:pic>
      <p:sp>
        <p:nvSpPr>
          <p:cNvPr id="36" name="CaixaDeTexto 14">
            <a:extLst>
              <a:ext uri="{FF2B5EF4-FFF2-40B4-BE49-F238E27FC236}">
                <a16:creationId xmlns:a16="http://schemas.microsoft.com/office/drawing/2014/main" id="{4CAF67E9-57D0-0723-1795-C6E07FE1DF41}"/>
              </a:ext>
            </a:extLst>
          </p:cNvPr>
          <p:cNvSpPr txBox="1"/>
          <p:nvPr/>
        </p:nvSpPr>
        <p:spPr>
          <a:xfrm>
            <a:off x="10453408" y="6610405"/>
            <a:ext cx="17098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Verdana"/>
                <a:ea typeface="Verdana"/>
              </a:rPr>
              <a:t>Atualização: 28</a:t>
            </a:r>
            <a:r>
              <a:rPr lang="pt-BR" sz="900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/08/26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43" name="Graphic 42" descr="Checkbox Checked with solid fill">
            <a:extLst>
              <a:ext uri="{FF2B5EF4-FFF2-40B4-BE49-F238E27FC236}">
                <a16:creationId xmlns:a16="http://schemas.microsoft.com/office/drawing/2014/main" id="{63EE7630-878D-683F-8144-04D6AAA01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042" y="3463688"/>
            <a:ext cx="336884" cy="33688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B432840C-DD51-803D-4A5B-EC692CC50325}"/>
              </a:ext>
            </a:extLst>
          </p:cNvPr>
          <p:cNvSpPr/>
          <p:nvPr/>
        </p:nvSpPr>
        <p:spPr>
          <a:xfrm>
            <a:off x="290808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E0610F8-7126-5C4F-92D6-C0A5F1534DE5}"/>
              </a:ext>
            </a:extLst>
          </p:cNvPr>
          <p:cNvSpPr txBox="1"/>
          <p:nvPr/>
        </p:nvSpPr>
        <p:spPr>
          <a:xfrm>
            <a:off x="316143" y="1312461"/>
            <a:ext cx="2204925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Planejado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44370D1-2396-471C-669D-559AFF382997}"/>
              </a:ext>
            </a:extLst>
          </p:cNvPr>
          <p:cNvSpPr txBox="1"/>
          <p:nvPr/>
        </p:nvSpPr>
        <p:spPr>
          <a:xfrm>
            <a:off x="316143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42705BBC-E60B-C5BB-0D4F-89EF6610A371}"/>
              </a:ext>
            </a:extLst>
          </p:cNvPr>
          <p:cNvSpPr/>
          <p:nvPr/>
        </p:nvSpPr>
        <p:spPr>
          <a:xfrm>
            <a:off x="2240629" y="1261661"/>
            <a:ext cx="2265487" cy="720035"/>
          </a:xfrm>
          <a:prstGeom prst="roundRect">
            <a:avLst>
              <a:gd name="adj" fmla="val 1950"/>
            </a:avLst>
          </a:prstGeom>
          <a:solidFill>
            <a:srgbClr val="0F9ED5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CF0ACEC-F5B6-D5D0-2B5C-0344815F5027}"/>
              </a:ext>
            </a:extLst>
          </p:cNvPr>
          <p:cNvSpPr txBox="1"/>
          <p:nvPr/>
        </p:nvSpPr>
        <p:spPr>
          <a:xfrm>
            <a:off x="2265966" y="1312461"/>
            <a:ext cx="2205043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Realizado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10BBDBC-2701-9954-1005-B2DF119C8118}"/>
              </a:ext>
            </a:extLst>
          </p:cNvPr>
          <p:cNvSpPr txBox="1"/>
          <p:nvPr/>
        </p:nvSpPr>
        <p:spPr>
          <a:xfrm>
            <a:off x="2265966" y="1550586"/>
            <a:ext cx="2205043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10%</a:t>
            </a:r>
            <a:endParaRPr lang="en-US" sz="179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B4C6A7C6-97ED-2985-BC6C-9887031C19F4}"/>
              </a:ext>
            </a:extLst>
          </p:cNvPr>
          <p:cNvSpPr/>
          <p:nvPr/>
        </p:nvSpPr>
        <p:spPr>
          <a:xfrm>
            <a:off x="4190550" y="1261661"/>
            <a:ext cx="2265369" cy="720035"/>
          </a:xfrm>
          <a:prstGeom prst="roundRect">
            <a:avLst>
              <a:gd name="adj" fmla="val 1950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FB69BF0-8508-5758-2973-0A22E9EEF94E}"/>
              </a:ext>
            </a:extLst>
          </p:cNvPr>
          <p:cNvSpPr txBox="1"/>
          <p:nvPr/>
        </p:nvSpPr>
        <p:spPr>
          <a:xfrm>
            <a:off x="4306824" y="1312461"/>
            <a:ext cx="2113987" cy="27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Aderência</a:t>
            </a:r>
            <a:endParaRPr lang="en-US" sz="1496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5CD7B96-6310-27D4-DACD-46DCAACCEB06}"/>
              </a:ext>
            </a:extLst>
          </p:cNvPr>
          <p:cNvSpPr txBox="1"/>
          <p:nvPr/>
        </p:nvSpPr>
        <p:spPr>
          <a:xfrm>
            <a:off x="4215886" y="1550586"/>
            <a:ext cx="2204925" cy="32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ndara" pitchFamily="34" charset="-120"/>
              </a:rPr>
              <a:t>100%</a:t>
            </a:r>
            <a:endParaRPr lang="en-US" sz="1795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D97F6C-294A-2D6B-11B6-008A38A873DC}"/>
              </a:ext>
            </a:extLst>
          </p:cNvPr>
          <p:cNvSpPr/>
          <p:nvPr/>
        </p:nvSpPr>
        <p:spPr>
          <a:xfrm>
            <a:off x="2581513" y="92526"/>
            <a:ext cx="1634373" cy="218834"/>
          </a:xfrm>
          <a:prstGeom prst="roundRect">
            <a:avLst>
              <a:gd name="adj" fmla="val 12586154"/>
            </a:avLst>
          </a:prstGeom>
          <a:solidFill>
            <a:srgbClr val="92D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9B01746-FCC0-B9BD-257E-C43544D5CF9A}"/>
              </a:ext>
            </a:extLst>
          </p:cNvPr>
          <p:cNvSpPr txBox="1"/>
          <p:nvPr/>
        </p:nvSpPr>
        <p:spPr>
          <a:xfrm>
            <a:off x="2986980" y="62243"/>
            <a:ext cx="82343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 </a:t>
            </a:r>
            <a:r>
              <a:rPr lang="en-US" sz="1496" b="1" dirty="0" err="1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Saudável</a:t>
            </a:r>
            <a:endParaRPr lang="en-US" sz="1496" dirty="0"/>
          </a:p>
        </p:txBody>
      </p:sp>
      <p:graphicFrame>
        <p:nvGraphicFramePr>
          <p:cNvPr id="32" name="Tabela 33">
            <a:extLst>
              <a:ext uri="{FF2B5EF4-FFF2-40B4-BE49-F238E27FC236}">
                <a16:creationId xmlns:a16="http://schemas.microsoft.com/office/drawing/2014/main" id="{FAECF929-68DF-C27E-25C0-3EA78FC19923}"/>
              </a:ext>
            </a:extLst>
          </p:cNvPr>
          <p:cNvGraphicFramePr>
            <a:graphicFrameLocks noGrp="1"/>
          </p:cNvGraphicFramePr>
          <p:nvPr/>
        </p:nvGraphicFramePr>
        <p:xfrm>
          <a:off x="6853287" y="1159185"/>
          <a:ext cx="5027183" cy="22698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30">
                <a:tc>
                  <a:txBody>
                    <a:bodyPr/>
                    <a:lstStyle/>
                    <a:p>
                      <a:r>
                        <a:rPr lang="pt-BR" sz="1100" b="1"/>
                        <a:t>Fase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Status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/>
                        <a:t>Peso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Planejamento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 err="1"/>
                        <a:t>Kick</a:t>
                      </a:r>
                      <a:r>
                        <a:rPr lang="pt-BR" sz="1000"/>
                        <a:t>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66534"/>
                          </a:solidFill>
                        </a:rPr>
                        <a:t>✓ Concluído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92400E"/>
                          </a:solidFill>
                        </a:rPr>
                        <a:t>▶ Em Andamento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Homologação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31">
                <a:tc>
                  <a:txBody>
                    <a:bodyPr/>
                    <a:lstStyle/>
                    <a:p>
                      <a:r>
                        <a:rPr lang="pt-BR" sz="1000"/>
                        <a:t>Encerramento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solidFill>
                            <a:srgbClr val="1E3A5F"/>
                          </a:solidFill>
                        </a:rPr>
                        <a:t>⏳ Aguardando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F269A12-999A-146B-1C3A-403CB1120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665112"/>
              </p:ext>
            </p:extLst>
          </p:nvPr>
        </p:nvGraphicFramePr>
        <p:xfrm>
          <a:off x="7075233" y="4990013"/>
          <a:ext cx="4936190" cy="12344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36190">
                  <a:extLst>
                    <a:ext uri="{9D8B030D-6E8A-4147-A177-3AD203B41FA5}">
                      <a16:colId xmlns:a16="http://schemas.microsoft.com/office/drawing/2014/main" val="1947798608"/>
                    </a:ext>
                  </a:extLst>
                </a:gridCol>
              </a:tblGrid>
              <a:tr h="792772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Seguir com o preenchimento do inventário, elencando as ondas de migração para a criação do cronograma e iniciar a migração das máquinas;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B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Arial"/>
                        </a:rPr>
                        <a:t>Instalar novo link de internet;</a:t>
                      </a: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  <a:p>
                      <a:pPr marL="171450" marR="0" lvl="0" indent="-1714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pt-B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/>
                        <a:ea typeface="Verdana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81295"/>
                  </a:ext>
                </a:extLst>
              </a:tr>
              <a:tr h="20599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pt-B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9B5B1B"/>
                        </a:solidFill>
                        <a:effectLst/>
                        <a:latin typeface="Verdan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285112"/>
                  </a:ext>
                </a:extLst>
              </a:tr>
            </a:tbl>
          </a:graphicData>
        </a:graphic>
      </p:graphicFrame>
      <p:graphicFrame>
        <p:nvGraphicFramePr>
          <p:cNvPr id="5" name="Tabela 40">
            <a:extLst>
              <a:ext uri="{FF2B5EF4-FFF2-40B4-BE49-F238E27FC236}">
                <a16:creationId xmlns:a16="http://schemas.microsoft.com/office/drawing/2014/main" id="{6A52C9DD-56CC-6154-ACE6-EFCAE204F690}"/>
              </a:ext>
            </a:extLst>
          </p:cNvPr>
          <p:cNvGraphicFramePr>
            <a:graphicFrameLocks noGrp="1"/>
          </p:cNvGraphicFramePr>
          <p:nvPr/>
        </p:nvGraphicFramePr>
        <p:xfrm>
          <a:off x="231244" y="2484079"/>
          <a:ext cx="6068402" cy="788654"/>
        </p:xfrm>
        <a:graphic>
          <a:graphicData uri="http://schemas.openxmlformats.org/drawingml/2006/table">
            <a:tbl>
              <a:tblPr/>
              <a:tblGrid>
                <a:gridCol w="606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65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71450" marR="0" lvl="0" indent="-171450" algn="just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pt-BR" sz="9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Projeto em levantamento e planejamento das ondas de migração para geração do cronograma.</a:t>
                      </a:r>
                    </a:p>
                  </a:txBody>
                  <a:tcPr marL="91461" marR="91461" marT="45680" marB="456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453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BC96B90D-64BD-8E00-90BA-384D30C89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953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58E0F4-0B2F-FC43-A9F0-8F68497A2E54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9f07549e-9a9e-4599-a1c1-d8f6677fa65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F8B7831DECA14CBAC8F4CF0048B887" ma:contentTypeVersion="11" ma:contentTypeDescription="Crie um novo documento." ma:contentTypeScope="" ma:versionID="45a32acb9268ca2bf9e3ff41d225e5fb">
  <xsd:schema xmlns:xsd="http://www.w3.org/2001/XMLSchema" xmlns:xs="http://www.w3.org/2001/XMLSchema" xmlns:p="http://schemas.microsoft.com/office/2006/metadata/properties" xmlns:ns2="d6ed5518-979c-40ce-b7cc-728994e3a7b6" xmlns:ns3="20fc770d-8edb-4da1-bfb6-bc571e8b52de" targetNamespace="http://schemas.microsoft.com/office/2006/metadata/properties" ma:root="true" ma:fieldsID="1b7beed9722fdd714838c44700642885" ns2:_="" ns3:_="">
    <xsd:import namespace="d6ed5518-979c-40ce-b7cc-728994e3a7b6"/>
    <xsd:import namespace="20fc770d-8edb-4da1-bfb6-bc571e8b52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d5518-979c-40ce-b7cc-728994e3a7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7eaf1b6-49da-474a-8dc5-792b501078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fc770d-8edb-4da1-bfb6-bc571e8b52d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c884e23-72f7-4156-9987-4666d91b2602}" ma:internalName="TaxCatchAll" ma:showField="CatchAllData" ma:web="20fc770d-8edb-4da1-bfb6-bc571e8b52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ed5518-979c-40ce-b7cc-728994e3a7b6">
      <Terms xmlns="http://schemas.microsoft.com/office/infopath/2007/PartnerControls"/>
    </lcf76f155ced4ddcb4097134ff3c332f>
    <TaxCatchAll xmlns="20fc770d-8edb-4da1-bfb6-bc571e8b52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859BF2-7DED-42CB-AA0C-4447C341B0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ed5518-979c-40ce-b7cc-728994e3a7b6"/>
    <ds:schemaRef ds:uri="20fc770d-8edb-4da1-bfb6-bc571e8b52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C38815-5EBB-47B3-B34E-AD4CE593FC03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d6ed5518-979c-40ce-b7cc-728994e3a7b6"/>
    <ds:schemaRef ds:uri="20fc770d-8edb-4da1-bfb6-bc571e8b52de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BA65A5-2A79-4433-A9F5-92BD1CC59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16572</TotalTime>
  <Words>4301</Words>
  <Application>Microsoft Macintosh PowerPoint</Application>
  <PresentationFormat>Widescreen</PresentationFormat>
  <Paragraphs>1291</Paragraphs>
  <Slides>23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Candara</vt:lpstr>
      <vt:lpstr>Verdana</vt:lpstr>
      <vt:lpstr>Wingdings</vt:lpstr>
      <vt:lpstr>Tema do Office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Cristiano Poppe</dc:creator>
  <cp:lastModifiedBy>Murilo Chuba</cp:lastModifiedBy>
  <cp:revision>21</cp:revision>
  <cp:lastPrinted>2026-09-04T20:17:55Z</cp:lastPrinted>
  <dcterms:created xsi:type="dcterms:W3CDTF">2022-08-03T18:57:18Z</dcterms:created>
  <dcterms:modified xsi:type="dcterms:W3CDTF">2026-09-08T00:03:57Z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0x0101001BF8B7831DECA14CBAC8F4CF0048B887</vt:lpwstr>
  </property>
  <property fmtid="{D5CDD505-2E9C-101B-9397-08002B2CF9AE}" pid="3" name="MediaServiceImageTags">
    <vt:lpwstr/>
  </property>
</Properties>
</file>